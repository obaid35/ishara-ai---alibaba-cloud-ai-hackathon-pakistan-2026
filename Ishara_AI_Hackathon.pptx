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011680" y="548640"/>
            <a:ext cx="8168335" cy="5486400"/>
          </a:xfrm>
          <a:prstGeom prst="roundRect">
            <a:avLst/>
          </a:prstGeom>
          <a:solidFill>
            <a:srgbClr val="F8FAFC"/>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shara-mark.png"/>
          <p:cNvPicPr>
            <a:picLocks noChangeAspect="1"/>
          </p:cNvPicPr>
          <p:nvPr/>
        </p:nvPicPr>
        <p:blipFill>
          <a:blip r:embed="rId2"/>
          <a:stretch>
            <a:fillRect/>
          </a:stretch>
        </p:blipFill>
        <p:spPr>
          <a:xfrm>
            <a:off x="5394960" y="868680"/>
            <a:ext cx="1283385" cy="1508760"/>
          </a:xfrm>
          <a:prstGeom prst="rect">
            <a:avLst/>
          </a:prstGeom>
        </p:spPr>
      </p:pic>
      <p:sp>
        <p:nvSpPr>
          <p:cNvPr id="5" name="TextBox 4"/>
          <p:cNvSpPr txBox="1"/>
          <p:nvPr/>
        </p:nvSpPr>
        <p:spPr>
          <a:xfrm>
            <a:off x="2377440" y="2514600"/>
            <a:ext cx="7436815" cy="548640"/>
          </a:xfrm>
          <a:prstGeom prst="rect">
            <a:avLst/>
          </a:prstGeom>
          <a:noFill/>
        </p:spPr>
        <p:txBody>
          <a:bodyPr wrap="square">
            <a:spAutoFit/>
          </a:bodyPr>
          <a:lstStyle/>
          <a:p>
            <a:pPr algn="ctr"/>
            <a:r>
              <a:rPr sz="3600" b="1">
                <a:solidFill>
                  <a:srgbClr val="0F172A"/>
                </a:solidFill>
                <a:latin typeface="Segoe UI"/>
              </a:rPr>
              <a:t>Ishara AI</a:t>
            </a:r>
          </a:p>
        </p:txBody>
      </p:sp>
      <p:sp>
        <p:nvSpPr>
          <p:cNvPr id="6" name="TextBox 5"/>
          <p:cNvSpPr txBox="1"/>
          <p:nvPr/>
        </p:nvSpPr>
        <p:spPr>
          <a:xfrm>
            <a:off x="2377440" y="3154680"/>
            <a:ext cx="7436815" cy="457200"/>
          </a:xfrm>
          <a:prstGeom prst="rect">
            <a:avLst/>
          </a:prstGeom>
          <a:noFill/>
        </p:spPr>
        <p:txBody>
          <a:bodyPr wrap="square">
            <a:spAutoFit/>
          </a:bodyPr>
          <a:lstStyle/>
          <a:p>
            <a:pPr algn="ctr"/>
            <a:r>
              <a:rPr sz="2000" b="1">
                <a:solidFill>
                  <a:srgbClr val="017A3A"/>
                </a:solidFill>
                <a:latin typeface="Segoe UI"/>
              </a:rPr>
              <a:t>The First Minute When No Interpreter Is Present</a:t>
            </a:r>
          </a:p>
        </p:txBody>
      </p:sp>
      <p:sp>
        <p:nvSpPr>
          <p:cNvPr id="7" name="TextBox 6"/>
          <p:cNvSpPr txBox="1"/>
          <p:nvPr/>
        </p:nvSpPr>
        <p:spPr>
          <a:xfrm>
            <a:off x="2377440" y="3703320"/>
            <a:ext cx="7436815" cy="411480"/>
          </a:xfrm>
          <a:prstGeom prst="rect">
            <a:avLst/>
          </a:prstGeom>
          <a:noFill/>
        </p:spPr>
        <p:txBody>
          <a:bodyPr wrap="square">
            <a:spAutoFit/>
          </a:bodyPr>
          <a:lstStyle/>
          <a:p>
            <a:pPr algn="ctr"/>
            <a:r>
              <a:rPr sz="1350">
                <a:solidFill>
                  <a:srgbClr val="334155"/>
                </a:solidFill>
                <a:latin typeface="Segoe UI"/>
              </a:rPr>
              <a:t>AI-powered Pakistan Sign Language recognition for emergency healthcare triage</a:t>
            </a:r>
          </a:p>
        </p:txBody>
      </p:sp>
      <p:sp>
        <p:nvSpPr>
          <p:cNvPr id="8" name="Rectangle 7"/>
          <p:cNvSpPr/>
          <p:nvPr/>
        </p:nvSpPr>
        <p:spPr>
          <a:xfrm>
            <a:off x="5120640" y="4297680"/>
            <a:ext cx="1950415" cy="36576"/>
          </a:xfrm>
          <a:prstGeom prst="rect">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77440" y="4480560"/>
            <a:ext cx="7436815" cy="365760"/>
          </a:xfrm>
          <a:prstGeom prst="rect">
            <a:avLst/>
          </a:prstGeom>
          <a:noFill/>
        </p:spPr>
        <p:txBody>
          <a:bodyPr wrap="square">
            <a:spAutoFit/>
          </a:bodyPr>
          <a:lstStyle/>
          <a:p>
            <a:pPr algn="ctr"/>
            <a:r>
              <a:rPr sz="1200" b="1">
                <a:solidFill>
                  <a:srgbClr val="64748B"/>
                </a:solidFill>
                <a:latin typeface="Segoe UI"/>
              </a:rPr>
              <a:t>Alibaba Cloud AI Hackathon Pakistan 2026   |   Team Submission</a:t>
            </a:r>
          </a:p>
        </p:txBody>
      </p:sp>
      <p:sp>
        <p:nvSpPr>
          <p:cNvPr id="10" name="TextBox 9"/>
          <p:cNvSpPr txBox="1"/>
          <p:nvPr/>
        </p:nvSpPr>
        <p:spPr>
          <a:xfrm>
            <a:off x="2377440" y="4892040"/>
            <a:ext cx="7436815" cy="365760"/>
          </a:xfrm>
          <a:prstGeom prst="rect">
            <a:avLst/>
          </a:prstGeom>
          <a:noFill/>
        </p:spPr>
        <p:txBody>
          <a:bodyPr wrap="square">
            <a:spAutoFit/>
          </a:bodyPr>
          <a:lstStyle/>
          <a:p>
            <a:pPr algn="ctr"/>
            <a:r>
              <a:rPr sz="1100" b="1">
                <a:solidFill>
                  <a:srgbClr val="017A3A"/>
                </a:solidFill>
              </a:rPr>
              <a:t>100% Offline   •   No Internet Required   •   Zero Hallucination</a:t>
            </a:r>
          </a:p>
        </p:txBody>
      </p:sp>
      <p:sp>
        <p:nvSpPr>
          <p:cNvPr id="11" name="Rectangle 10"/>
          <p:cNvSpPr/>
          <p:nvPr/>
        </p:nvSpPr>
        <p:spPr>
          <a:xfrm>
            <a:off x="0" y="6473952"/>
            <a:ext cx="12191695" cy="384048"/>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528816"/>
            <a:ext cx="10728655" cy="274320"/>
          </a:xfrm>
          <a:prstGeom prst="rect">
            <a:avLst/>
          </a:prstGeom>
          <a:noFill/>
        </p:spPr>
        <p:txBody>
          <a:bodyPr wrap="none">
            <a:spAutoFit/>
          </a:bodyPr>
          <a:lstStyle/>
          <a:p>
            <a:pPr algn="ctr"/>
            <a:r>
              <a:rPr sz="950">
                <a:solidFill>
                  <a:srgbClr val="64748B"/>
                </a:solidFill>
              </a:rPr>
              <a:t>Ishara AI   •   Alibaba Cloud AI Hackathon Pakistan 2026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502920" cy="292608"/>
          </a:xfrm>
          <a:prstGeom prst="roundRect">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FFFFFF"/>
                </a:solidFill>
              </a:rPr>
              <a:t>01</a:t>
            </a:r>
          </a:p>
        </p:txBody>
      </p:sp>
      <p:sp>
        <p:nvSpPr>
          <p:cNvPr id="4" name="TextBox 3"/>
          <p:cNvSpPr txBox="1"/>
          <p:nvPr/>
        </p:nvSpPr>
        <p:spPr>
          <a:xfrm>
            <a:off x="1325880" y="384048"/>
            <a:ext cx="5486400" cy="292608"/>
          </a:xfrm>
          <a:prstGeom prst="rect">
            <a:avLst/>
          </a:prstGeom>
          <a:noFill/>
        </p:spPr>
        <p:txBody>
          <a:bodyPr wrap="none">
            <a:spAutoFit/>
          </a:bodyPr>
          <a:lstStyle/>
          <a:p>
            <a:r>
              <a:rPr sz="1200" b="1">
                <a:solidFill>
                  <a:srgbClr val="017A3A"/>
                </a:solidFill>
                <a:latin typeface="Segoe UI"/>
              </a:rPr>
              <a:t>THE PROBLEM</a:t>
            </a:r>
          </a:p>
        </p:txBody>
      </p:sp>
      <p:sp>
        <p:nvSpPr>
          <p:cNvPr id="5" name="TextBox 4"/>
          <p:cNvSpPr txBox="1"/>
          <p:nvPr/>
        </p:nvSpPr>
        <p:spPr>
          <a:xfrm>
            <a:off x="731520" y="749808"/>
            <a:ext cx="10698480" cy="594360"/>
          </a:xfrm>
          <a:prstGeom prst="rect">
            <a:avLst/>
          </a:prstGeom>
          <a:noFill/>
        </p:spPr>
        <p:txBody>
          <a:bodyPr wrap="square">
            <a:spAutoFit/>
          </a:bodyPr>
          <a:lstStyle/>
          <a:p>
            <a:r>
              <a:rPr sz="2500" b="1">
                <a:solidFill>
                  <a:srgbClr val="0F172A"/>
                </a:solidFill>
                <a:latin typeface="Segoe UI"/>
              </a:rPr>
              <a:t>Who is left behind when no interpreter is present?</a:t>
            </a:r>
          </a:p>
        </p:txBody>
      </p:sp>
      <p:sp>
        <p:nvSpPr>
          <p:cNvPr id="6" name="Rectangle 5"/>
          <p:cNvSpPr/>
          <p:nvPr/>
        </p:nvSpPr>
        <p:spPr>
          <a:xfrm>
            <a:off x="0" y="6473952"/>
            <a:ext cx="12191695" cy="384048"/>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10728655" cy="274320"/>
          </a:xfrm>
          <a:prstGeom prst="rect">
            <a:avLst/>
          </a:prstGeom>
          <a:noFill/>
        </p:spPr>
        <p:txBody>
          <a:bodyPr wrap="none">
            <a:spAutoFit/>
          </a:bodyPr>
          <a:lstStyle/>
          <a:p>
            <a:pPr algn="ctr"/>
            <a:r>
              <a:rPr sz="950">
                <a:solidFill>
                  <a:srgbClr val="64748B"/>
                </a:solidFill>
              </a:rPr>
              <a:t>Ishara AI   •   Alibaba Cloud AI Hackathon Pakistan 2026   •   Confidential</a:t>
            </a:r>
          </a:p>
        </p:txBody>
      </p:sp>
      <p:sp>
        <p:nvSpPr>
          <p:cNvPr id="8" name="Rounded Rectangle 7"/>
          <p:cNvSpPr/>
          <p:nvPr/>
        </p:nvSpPr>
        <p:spPr>
          <a:xfrm>
            <a:off x="731520" y="1554480"/>
            <a:ext cx="3291840" cy="2514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2926080" cy="2240280"/>
          </a:xfrm>
          <a:prstGeom prst="rect">
            <a:avLst/>
          </a:prstGeom>
          <a:noFill/>
        </p:spPr>
        <p:txBody>
          <a:bodyPr wrap="square">
            <a:spAutoFit/>
          </a:bodyPr>
          <a:lstStyle/>
          <a:p>
            <a:pPr algn="ctr">
              <a:spcAft>
                <a:spcPts val="600"/>
              </a:spcAft>
            </a:pPr>
            <a:r>
              <a:rPr sz="3600" b="1">
                <a:solidFill>
                  <a:srgbClr val="017A3A"/>
                </a:solidFill>
                <a:latin typeface="Segoe UI"/>
              </a:rPr>
              <a:t>4.8%</a:t>
            </a:r>
          </a:p>
          <a:p>
            <a:pPr algn="ctr">
              <a:spcAft>
                <a:spcPts val="600"/>
              </a:spcAft>
            </a:pPr>
            <a:r>
              <a:rPr sz="1300" b="1">
                <a:solidFill>
                  <a:srgbClr val="0F172A"/>
                </a:solidFill>
                <a:latin typeface="Segoe UI"/>
              </a:rPr>
              <a:t>Deaf &amp; hard-of-hearing</a:t>
            </a:r>
          </a:p>
          <a:p>
            <a:pPr algn="ctr"/>
            <a:r>
              <a:rPr sz="1100">
                <a:solidFill>
                  <a:srgbClr val="64748B"/>
                </a:solidFill>
                <a:latin typeface="Segoe UI"/>
              </a:rPr>
              <a:t>citizens in Pakistan (Senate-cited Ministry of NHSR&amp;C survey), with virtually zero accessible hospital communication tools.</a:t>
            </a:r>
          </a:p>
        </p:txBody>
      </p:sp>
      <p:sp>
        <p:nvSpPr>
          <p:cNvPr id="10" name="Rounded Rectangle 9"/>
          <p:cNvSpPr/>
          <p:nvPr/>
        </p:nvSpPr>
        <p:spPr>
          <a:xfrm>
            <a:off x="4434840" y="1554480"/>
            <a:ext cx="3291840" cy="2514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691640"/>
            <a:ext cx="2926080" cy="2240280"/>
          </a:xfrm>
          <a:prstGeom prst="rect">
            <a:avLst/>
          </a:prstGeom>
          <a:noFill/>
        </p:spPr>
        <p:txBody>
          <a:bodyPr wrap="square">
            <a:spAutoFit/>
          </a:bodyPr>
          <a:lstStyle/>
          <a:p>
            <a:pPr algn="ctr">
              <a:spcAft>
                <a:spcPts val="600"/>
              </a:spcAft>
            </a:pPr>
            <a:r>
              <a:rPr sz="3600" b="1">
                <a:solidFill>
                  <a:srgbClr val="017A3A"/>
                </a:solidFill>
                <a:latin typeface="Segoe UI"/>
              </a:rPr>
              <a:t>&lt; 50</a:t>
            </a:r>
          </a:p>
          <a:p>
            <a:pPr algn="ctr">
              <a:spcAft>
                <a:spcPts val="600"/>
              </a:spcAft>
            </a:pPr>
            <a:r>
              <a:rPr sz="1300" b="1">
                <a:solidFill>
                  <a:srgbClr val="0F172A"/>
                </a:solidFill>
                <a:latin typeface="Segoe UI"/>
              </a:rPr>
              <a:t>Certified PSL Interpreters</a:t>
            </a:r>
          </a:p>
          <a:p>
            <a:pPr algn="ctr"/>
            <a:r>
              <a:rPr sz="1100">
                <a:solidFill>
                  <a:srgbClr val="64748B"/>
                </a:solidFill>
                <a:latin typeface="Segoe UI"/>
              </a:rPr>
              <a:t>nationwide. Rarely available 24/7, and virtually absent in emergency departments.</a:t>
            </a:r>
          </a:p>
        </p:txBody>
      </p:sp>
      <p:sp>
        <p:nvSpPr>
          <p:cNvPr id="12" name="Rounded Rectangle 11"/>
          <p:cNvSpPr/>
          <p:nvPr/>
        </p:nvSpPr>
        <p:spPr>
          <a:xfrm>
            <a:off x="8138160" y="1554480"/>
            <a:ext cx="3291840" cy="2514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691640"/>
            <a:ext cx="2926080" cy="2240280"/>
          </a:xfrm>
          <a:prstGeom prst="rect">
            <a:avLst/>
          </a:prstGeom>
          <a:noFill/>
        </p:spPr>
        <p:txBody>
          <a:bodyPr wrap="square">
            <a:spAutoFit/>
          </a:bodyPr>
          <a:lstStyle/>
          <a:p>
            <a:pPr algn="ctr">
              <a:spcAft>
                <a:spcPts val="600"/>
              </a:spcAft>
            </a:pPr>
            <a:r>
              <a:rPr sz="3600" b="1">
                <a:solidFill>
                  <a:srgbClr val="017A3A"/>
                </a:solidFill>
                <a:latin typeface="Segoe UI"/>
              </a:rPr>
              <a:t>0</a:t>
            </a:r>
          </a:p>
          <a:p>
            <a:pPr algn="ctr">
              <a:spcAft>
                <a:spcPts val="600"/>
              </a:spcAft>
            </a:pPr>
            <a:r>
              <a:rPr sz="1300" b="1">
                <a:solidFill>
                  <a:srgbClr val="0F172A"/>
                </a:solidFill>
                <a:latin typeface="Segoe UI"/>
              </a:rPr>
              <a:t>ER Communication Aids</a:t>
            </a:r>
          </a:p>
          <a:p>
            <a:pPr algn="ctr"/>
            <a:r>
              <a:rPr sz="1100">
                <a:solidFill>
                  <a:srgbClr val="64748B"/>
                </a:solidFill>
                <a:latin typeface="Segoe UI"/>
              </a:rPr>
              <a:t>available today in public hospitals. Between patient and doctor, there is only silence.</a:t>
            </a:r>
          </a:p>
        </p:txBody>
      </p:sp>
      <p:sp>
        <p:nvSpPr>
          <p:cNvPr id="14" name="Rounded Rectangle 13"/>
          <p:cNvSpPr/>
          <p:nvPr/>
        </p:nvSpPr>
        <p:spPr>
          <a:xfrm>
            <a:off x="731520" y="4297680"/>
            <a:ext cx="10698480" cy="1600200"/>
          </a:xfrm>
          <a:prstGeom prst="roundRect">
            <a:avLst/>
          </a:prstGeom>
          <a:solidFill>
            <a:srgbClr val="FFFBEB"/>
          </a:solidFill>
          <a:ln w="12700">
            <a:solidFill>
              <a:srgbClr val="FEE3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434840"/>
            <a:ext cx="10058400" cy="1325880"/>
          </a:xfrm>
          <a:prstGeom prst="rect">
            <a:avLst/>
          </a:prstGeom>
          <a:noFill/>
        </p:spPr>
        <p:txBody>
          <a:bodyPr wrap="square">
            <a:spAutoFit/>
          </a:bodyPr>
          <a:lstStyle/>
          <a:p>
            <a:pPr>
              <a:spcAft>
                <a:spcPts val="400"/>
              </a:spcAft>
            </a:pPr>
            <a:r>
              <a:rPr sz="1200" b="1">
                <a:solidFill>
                  <a:srgbClr val="B45309"/>
                </a:solidFill>
              </a:rPr>
              <a:t>THE REALITY AT 2:00 AM IN AN EMERGENCY ROOM</a:t>
            </a:r>
          </a:p>
          <a:p>
            <a:r>
              <a:rPr sz="1250">
                <a:solidFill>
                  <a:srgbClr val="0F172A"/>
                </a:solidFill>
                <a:latin typeface="Segoe UI"/>
              </a:rPr>
              <a:t>A Deaf patient arrives at Civil Hospital Karachi experiencing severe pain. There is no interpreter on duty. The emergency physician does not know Pakistan Sign Language. Today, what happens? Gesturing, confusion, guessing, or the patient leaving without treatment. This is not a translation problem—it is an emergency triage crisis.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502920" cy="292608"/>
          </a:xfrm>
          <a:prstGeom prst="roundRect">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FFFFFF"/>
                </a:solidFill>
              </a:rPr>
              <a:t>02</a:t>
            </a:r>
          </a:p>
        </p:txBody>
      </p:sp>
      <p:sp>
        <p:nvSpPr>
          <p:cNvPr id="4" name="TextBox 3"/>
          <p:cNvSpPr txBox="1"/>
          <p:nvPr/>
        </p:nvSpPr>
        <p:spPr>
          <a:xfrm>
            <a:off x="1325880" y="384048"/>
            <a:ext cx="5486400" cy="292608"/>
          </a:xfrm>
          <a:prstGeom prst="rect">
            <a:avLst/>
          </a:prstGeom>
          <a:noFill/>
        </p:spPr>
        <p:txBody>
          <a:bodyPr wrap="none">
            <a:spAutoFit/>
          </a:bodyPr>
          <a:lstStyle/>
          <a:p>
            <a:r>
              <a:rPr sz="1200" b="1">
                <a:solidFill>
                  <a:srgbClr val="017A3A"/>
                </a:solidFill>
                <a:latin typeface="Segoe UI"/>
              </a:rPr>
              <a:t>OUR SOLUTION</a:t>
            </a:r>
          </a:p>
        </p:txBody>
      </p:sp>
      <p:sp>
        <p:nvSpPr>
          <p:cNvPr id="5" name="TextBox 4"/>
          <p:cNvSpPr txBox="1"/>
          <p:nvPr/>
        </p:nvSpPr>
        <p:spPr>
          <a:xfrm>
            <a:off x="731520" y="749808"/>
            <a:ext cx="10698480" cy="594360"/>
          </a:xfrm>
          <a:prstGeom prst="rect">
            <a:avLst/>
          </a:prstGeom>
          <a:noFill/>
        </p:spPr>
        <p:txBody>
          <a:bodyPr wrap="square">
            <a:spAutoFit/>
          </a:bodyPr>
          <a:lstStyle/>
          <a:p>
            <a:r>
              <a:rPr sz="2500" b="1">
                <a:solidFill>
                  <a:srgbClr val="0F172A"/>
                </a:solidFill>
                <a:latin typeface="Segoe UI"/>
              </a:rPr>
              <a:t>60 seconds to the first verified medical message</a:t>
            </a:r>
          </a:p>
        </p:txBody>
      </p:sp>
      <p:sp>
        <p:nvSpPr>
          <p:cNvPr id="6" name="Rectangle 5"/>
          <p:cNvSpPr/>
          <p:nvPr/>
        </p:nvSpPr>
        <p:spPr>
          <a:xfrm>
            <a:off x="0" y="6473952"/>
            <a:ext cx="12191695" cy="384048"/>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10728655" cy="274320"/>
          </a:xfrm>
          <a:prstGeom prst="rect">
            <a:avLst/>
          </a:prstGeom>
          <a:noFill/>
        </p:spPr>
        <p:txBody>
          <a:bodyPr wrap="none">
            <a:spAutoFit/>
          </a:bodyPr>
          <a:lstStyle/>
          <a:p>
            <a:pPr algn="ctr"/>
            <a:r>
              <a:rPr sz="950">
                <a:solidFill>
                  <a:srgbClr val="64748B"/>
                </a:solidFill>
              </a:rPr>
              <a:t>Ishara AI   •   Alibaba Cloud AI Hackathon Pakistan 2026   •   Confidential</a:t>
            </a:r>
          </a:p>
        </p:txBody>
      </p:sp>
      <p:sp>
        <p:nvSpPr>
          <p:cNvPr id="8" name="Rounded Rectangle 7"/>
          <p:cNvSpPr/>
          <p:nvPr/>
        </p:nvSpPr>
        <p:spPr>
          <a:xfrm>
            <a:off x="731520" y="1554480"/>
            <a:ext cx="6126480" cy="4480560"/>
          </a:xfrm>
          <a:prstGeom prst="roundRect">
            <a:avLst/>
          </a:prstGeom>
          <a:solidFill>
            <a:srgbClr val="FFFFFF"/>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s_patient.png"/>
          <p:cNvPicPr>
            <a:picLocks noChangeAspect="1"/>
          </p:cNvPicPr>
          <p:nvPr/>
        </p:nvPicPr>
        <p:blipFill>
          <a:blip r:embed="rId2"/>
          <a:stretch>
            <a:fillRect/>
          </a:stretch>
        </p:blipFill>
        <p:spPr>
          <a:xfrm>
            <a:off x="868680" y="1691640"/>
            <a:ext cx="5852160" cy="3762103"/>
          </a:xfrm>
          <a:prstGeom prst="rect">
            <a:avLst/>
          </a:prstGeom>
        </p:spPr>
      </p:pic>
      <p:sp>
        <p:nvSpPr>
          <p:cNvPr id="10" name="TextBox 9"/>
          <p:cNvSpPr txBox="1"/>
          <p:nvPr/>
        </p:nvSpPr>
        <p:spPr>
          <a:xfrm>
            <a:off x="868680" y="5440680"/>
            <a:ext cx="5852160" cy="457200"/>
          </a:xfrm>
          <a:prstGeom prst="rect">
            <a:avLst/>
          </a:prstGeom>
          <a:noFill/>
        </p:spPr>
        <p:txBody>
          <a:bodyPr wrap="none">
            <a:spAutoFit/>
          </a:bodyPr>
          <a:lstStyle/>
          <a:p>
            <a:pPr algn="ctr"/>
            <a:r>
              <a:rPr sz="1000" b="1">
                <a:solidFill>
                  <a:srgbClr val="64748B"/>
                </a:solidFill>
              </a:rPr>
              <a:t>Live Ishara AI interface: Patient signs in front of webcam -&gt; Reviewed Urdu displayed</a:t>
            </a:r>
          </a:p>
        </p:txBody>
      </p:sp>
      <p:sp>
        <p:nvSpPr>
          <p:cNvPr id="11" name="Rounded Rectangle 10"/>
          <p:cNvSpPr/>
          <p:nvPr/>
        </p:nvSpPr>
        <p:spPr>
          <a:xfrm>
            <a:off x="7132320" y="1554480"/>
            <a:ext cx="429768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0" y="1691640"/>
            <a:ext cx="3749039" cy="365760"/>
          </a:xfrm>
          <a:prstGeom prst="rect">
            <a:avLst/>
          </a:prstGeom>
          <a:noFill/>
        </p:spPr>
        <p:txBody>
          <a:bodyPr wrap="none">
            <a:spAutoFit/>
          </a:bodyPr>
          <a:lstStyle/>
          <a:p>
            <a:r>
              <a:rPr sz="1200" b="1">
                <a:solidFill>
                  <a:srgbClr val="017A3A"/>
                </a:solidFill>
              </a:rPr>
              <a:t>HOW IT WORKS IN 5 STEPS</a:t>
            </a:r>
          </a:p>
        </p:txBody>
      </p:sp>
      <p:sp>
        <p:nvSpPr>
          <p:cNvPr id="13" name="Oval 12"/>
          <p:cNvSpPr/>
          <p:nvPr/>
        </p:nvSpPr>
        <p:spPr>
          <a:xfrm>
            <a:off x="7406640" y="2185416"/>
            <a:ext cx="329184" cy="329184"/>
          </a:xfrm>
          <a:prstGeom prst="ellipse">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1</a:t>
            </a:r>
          </a:p>
        </p:txBody>
      </p:sp>
      <p:sp>
        <p:nvSpPr>
          <p:cNvPr id="14" name="TextBox 13"/>
          <p:cNvSpPr txBox="1"/>
          <p:nvPr/>
        </p:nvSpPr>
        <p:spPr>
          <a:xfrm>
            <a:off x="7863840" y="2148840"/>
            <a:ext cx="3383280" cy="685800"/>
          </a:xfrm>
          <a:prstGeom prst="rect">
            <a:avLst/>
          </a:prstGeom>
          <a:noFill/>
        </p:spPr>
        <p:txBody>
          <a:bodyPr wrap="square">
            <a:spAutoFit/>
          </a:bodyPr>
          <a:lstStyle/>
          <a:p>
            <a:pPr>
              <a:spcAft>
                <a:spcPts val="200"/>
              </a:spcAft>
            </a:pPr>
            <a:r>
              <a:rPr sz="1150" b="1">
                <a:solidFill>
                  <a:srgbClr val="0F172A"/>
                </a:solidFill>
              </a:rPr>
              <a:t>Patient signs before camera</a:t>
            </a:r>
          </a:p>
          <a:p>
            <a:r>
              <a:rPr sz="1000">
                <a:solidFill>
                  <a:srgbClr val="64748B"/>
                </a:solidFill>
              </a:rPr>
              <a:t>No login, email, or password required. Zero friction in pain.</a:t>
            </a:r>
          </a:p>
        </p:txBody>
      </p:sp>
      <p:sp>
        <p:nvSpPr>
          <p:cNvPr id="15" name="Oval 14"/>
          <p:cNvSpPr/>
          <p:nvPr/>
        </p:nvSpPr>
        <p:spPr>
          <a:xfrm>
            <a:off x="7406640" y="2916936"/>
            <a:ext cx="329184" cy="329184"/>
          </a:xfrm>
          <a:prstGeom prst="ellipse">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2</a:t>
            </a:r>
          </a:p>
        </p:txBody>
      </p:sp>
      <p:sp>
        <p:nvSpPr>
          <p:cNvPr id="16" name="TextBox 15"/>
          <p:cNvSpPr txBox="1"/>
          <p:nvPr/>
        </p:nvSpPr>
        <p:spPr>
          <a:xfrm>
            <a:off x="7863840" y="2880360"/>
            <a:ext cx="3383280" cy="685800"/>
          </a:xfrm>
          <a:prstGeom prst="rect">
            <a:avLst/>
          </a:prstGeom>
          <a:noFill/>
        </p:spPr>
        <p:txBody>
          <a:bodyPr wrap="square">
            <a:spAutoFit/>
          </a:bodyPr>
          <a:lstStyle/>
          <a:p>
            <a:pPr>
              <a:spcAft>
                <a:spcPts val="200"/>
              </a:spcAft>
            </a:pPr>
            <a:r>
              <a:rPr sz="1150" b="1">
                <a:solidFill>
                  <a:srgbClr val="0F172A"/>
                </a:solidFill>
              </a:rPr>
              <a:t>MediaPipe extracts landmarks</a:t>
            </a:r>
          </a:p>
          <a:p>
            <a:r>
              <a:rPr sz="1000">
                <a:solidFill>
                  <a:srgbClr val="64748B"/>
                </a:solidFill>
              </a:rPr>
              <a:t>Tracks 33 body pose points and 42 hand landmarks in real time.</a:t>
            </a:r>
          </a:p>
        </p:txBody>
      </p:sp>
      <p:sp>
        <p:nvSpPr>
          <p:cNvPr id="17" name="Oval 16"/>
          <p:cNvSpPr/>
          <p:nvPr/>
        </p:nvSpPr>
        <p:spPr>
          <a:xfrm>
            <a:off x="7406640" y="3648456"/>
            <a:ext cx="329184" cy="329184"/>
          </a:xfrm>
          <a:prstGeom prst="ellipse">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3</a:t>
            </a:r>
          </a:p>
        </p:txBody>
      </p:sp>
      <p:sp>
        <p:nvSpPr>
          <p:cNvPr id="18" name="TextBox 17"/>
          <p:cNvSpPr txBox="1"/>
          <p:nvPr/>
        </p:nvSpPr>
        <p:spPr>
          <a:xfrm>
            <a:off x="7863840" y="3611880"/>
            <a:ext cx="3383280" cy="685800"/>
          </a:xfrm>
          <a:prstGeom prst="rect">
            <a:avLst/>
          </a:prstGeom>
          <a:noFill/>
        </p:spPr>
        <p:txBody>
          <a:bodyPr wrap="square">
            <a:spAutoFit/>
          </a:bodyPr>
          <a:lstStyle/>
          <a:p>
            <a:pPr>
              <a:spcAft>
                <a:spcPts val="200"/>
              </a:spcAft>
            </a:pPr>
            <a:r>
              <a:rPr sz="1150" b="1">
                <a:solidFill>
                  <a:srgbClr val="0F172A"/>
                </a:solidFill>
              </a:rPr>
              <a:t>DTW matches motion shape</a:t>
            </a:r>
          </a:p>
          <a:p>
            <a:r>
              <a:rPr sz="1000">
                <a:solidFill>
                  <a:srgbClr val="64748B"/>
                </a:solidFill>
              </a:rPr>
              <a:t>Dynamic Time Warping matches motion trajectory against verified PSL.</a:t>
            </a:r>
          </a:p>
        </p:txBody>
      </p:sp>
      <p:sp>
        <p:nvSpPr>
          <p:cNvPr id="19" name="Oval 18"/>
          <p:cNvSpPr/>
          <p:nvPr/>
        </p:nvSpPr>
        <p:spPr>
          <a:xfrm>
            <a:off x="7406640" y="4379976"/>
            <a:ext cx="329184" cy="329184"/>
          </a:xfrm>
          <a:prstGeom prst="ellipse">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4</a:t>
            </a:r>
          </a:p>
        </p:txBody>
      </p:sp>
      <p:sp>
        <p:nvSpPr>
          <p:cNvPr id="20" name="TextBox 19"/>
          <p:cNvSpPr txBox="1"/>
          <p:nvPr/>
        </p:nvSpPr>
        <p:spPr>
          <a:xfrm>
            <a:off x="7863840" y="4343400"/>
            <a:ext cx="3383280" cy="685800"/>
          </a:xfrm>
          <a:prstGeom prst="rect">
            <a:avLst/>
          </a:prstGeom>
          <a:noFill/>
        </p:spPr>
        <p:txBody>
          <a:bodyPr wrap="square">
            <a:spAutoFit/>
          </a:bodyPr>
          <a:lstStyle/>
          <a:p>
            <a:pPr>
              <a:spcAft>
                <a:spcPts val="200"/>
              </a:spcAft>
            </a:pPr>
            <a:r>
              <a:rPr sz="1150" b="1">
                <a:solidFill>
                  <a:srgbClr val="0F172A"/>
                </a:solidFill>
              </a:rPr>
              <a:t>Reviewed Urdu text displayed</a:t>
            </a:r>
          </a:p>
          <a:p>
            <a:r>
              <a:rPr sz="1000">
                <a:solidFill>
                  <a:srgbClr val="64748B"/>
                </a:solidFill>
              </a:rPr>
              <a:t>Pre-written, clinically audited medical phrase. No hallucination.</a:t>
            </a:r>
          </a:p>
        </p:txBody>
      </p:sp>
      <p:sp>
        <p:nvSpPr>
          <p:cNvPr id="21" name="Oval 20"/>
          <p:cNvSpPr/>
          <p:nvPr/>
        </p:nvSpPr>
        <p:spPr>
          <a:xfrm>
            <a:off x="7406640" y="5111496"/>
            <a:ext cx="329184" cy="329184"/>
          </a:xfrm>
          <a:prstGeom prst="ellipse">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rPr>
              <a:t>5</a:t>
            </a:r>
          </a:p>
        </p:txBody>
      </p:sp>
      <p:sp>
        <p:nvSpPr>
          <p:cNvPr id="22" name="TextBox 21"/>
          <p:cNvSpPr txBox="1"/>
          <p:nvPr/>
        </p:nvSpPr>
        <p:spPr>
          <a:xfrm>
            <a:off x="7863840" y="5074920"/>
            <a:ext cx="3383280" cy="685800"/>
          </a:xfrm>
          <a:prstGeom prst="rect">
            <a:avLst/>
          </a:prstGeom>
          <a:noFill/>
        </p:spPr>
        <p:txBody>
          <a:bodyPr wrap="square">
            <a:spAutoFit/>
          </a:bodyPr>
          <a:lstStyle/>
          <a:p>
            <a:pPr>
              <a:spcAft>
                <a:spcPts val="200"/>
              </a:spcAft>
            </a:pPr>
            <a:r>
              <a:rPr sz="1150" b="1">
                <a:solidFill>
                  <a:srgbClr val="0F172A"/>
                </a:solidFill>
              </a:rPr>
              <a:t>Patient confirms, audio plays</a:t>
            </a:r>
          </a:p>
          <a:p>
            <a:r>
              <a:rPr sz="1000">
                <a:solidFill>
                  <a:srgbClr val="64748B"/>
                </a:solidFill>
              </a:rPr>
              <a:t>Patient taps speak. Kokoro TTS speaks Urdu to the doctor.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502920" cy="292608"/>
          </a:xfrm>
          <a:prstGeom prst="roundRect">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FFFFFF"/>
                </a:solidFill>
              </a:rPr>
              <a:t>03</a:t>
            </a:r>
          </a:p>
        </p:txBody>
      </p:sp>
      <p:sp>
        <p:nvSpPr>
          <p:cNvPr id="4" name="TextBox 3"/>
          <p:cNvSpPr txBox="1"/>
          <p:nvPr/>
        </p:nvSpPr>
        <p:spPr>
          <a:xfrm>
            <a:off x="1325880" y="384048"/>
            <a:ext cx="5486400" cy="292608"/>
          </a:xfrm>
          <a:prstGeom prst="rect">
            <a:avLst/>
          </a:prstGeom>
          <a:noFill/>
        </p:spPr>
        <p:txBody>
          <a:bodyPr wrap="none">
            <a:spAutoFit/>
          </a:bodyPr>
          <a:lstStyle/>
          <a:p>
            <a:r>
              <a:rPr sz="1200" b="1">
                <a:solidFill>
                  <a:srgbClr val="017A3A"/>
                </a:solidFill>
                <a:latin typeface="Segoe UI"/>
              </a:rPr>
              <a:t>NEED &amp; IMPACT</a:t>
            </a:r>
          </a:p>
        </p:txBody>
      </p:sp>
      <p:sp>
        <p:nvSpPr>
          <p:cNvPr id="5" name="TextBox 4"/>
          <p:cNvSpPr txBox="1"/>
          <p:nvPr/>
        </p:nvSpPr>
        <p:spPr>
          <a:xfrm>
            <a:off x="731520" y="749808"/>
            <a:ext cx="10698480" cy="594360"/>
          </a:xfrm>
          <a:prstGeom prst="rect">
            <a:avLst/>
          </a:prstGeom>
          <a:noFill/>
        </p:spPr>
        <p:txBody>
          <a:bodyPr wrap="square">
            <a:spAutoFit/>
          </a:bodyPr>
          <a:lstStyle/>
          <a:p>
            <a:r>
              <a:rPr sz="2500" b="1">
                <a:solidFill>
                  <a:srgbClr val="0F172A"/>
                </a:solidFill>
                <a:latin typeface="Segoe UI"/>
              </a:rPr>
              <a:t>Not replacing interpreters—bridging the critical gap until one arrives</a:t>
            </a:r>
          </a:p>
        </p:txBody>
      </p:sp>
      <p:sp>
        <p:nvSpPr>
          <p:cNvPr id="6" name="Rectangle 5"/>
          <p:cNvSpPr/>
          <p:nvPr/>
        </p:nvSpPr>
        <p:spPr>
          <a:xfrm>
            <a:off x="0" y="6473952"/>
            <a:ext cx="12191695" cy="384048"/>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10728655" cy="274320"/>
          </a:xfrm>
          <a:prstGeom prst="rect">
            <a:avLst/>
          </a:prstGeom>
          <a:noFill/>
        </p:spPr>
        <p:txBody>
          <a:bodyPr wrap="none">
            <a:spAutoFit/>
          </a:bodyPr>
          <a:lstStyle/>
          <a:p>
            <a:pPr algn="ctr"/>
            <a:r>
              <a:rPr sz="950">
                <a:solidFill>
                  <a:srgbClr val="64748B"/>
                </a:solidFill>
              </a:rPr>
              <a:t>Ishara AI   •   Alibaba Cloud AI Hackathon Pakistan 2026   •   Confidential</a:t>
            </a:r>
          </a:p>
        </p:txBody>
      </p:sp>
      <p:sp>
        <p:nvSpPr>
          <p:cNvPr id="8" name="Rounded Rectangle 7"/>
          <p:cNvSpPr/>
          <p:nvPr/>
        </p:nvSpPr>
        <p:spPr>
          <a:xfrm>
            <a:off x="731520" y="1554480"/>
            <a:ext cx="5166360" cy="3931920"/>
          </a:xfrm>
          <a:prstGeom prst="roundRect">
            <a:avLst/>
          </a:prstGeom>
          <a:solidFill>
            <a:srgbClr val="FEF2F2"/>
          </a:solidFill>
          <a:ln w="12700">
            <a:solidFill>
              <a:srgbClr val="FE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37360"/>
            <a:ext cx="4572000" cy="3474720"/>
          </a:xfrm>
          <a:prstGeom prst="rect">
            <a:avLst/>
          </a:prstGeom>
          <a:noFill/>
        </p:spPr>
        <p:txBody>
          <a:bodyPr wrap="square">
            <a:spAutoFit/>
          </a:bodyPr>
          <a:lstStyle/>
          <a:p>
            <a:pPr>
              <a:spcAft>
                <a:spcPts val="1200"/>
              </a:spcAft>
            </a:pPr>
            <a:r>
              <a:rPr sz="1300" b="1">
                <a:solidFill>
                  <a:srgbClr val="991B1B"/>
                </a:solidFill>
              </a:rPr>
              <a:t>WITHOUT ISHARA AI  (CURRENT REALITY)</a:t>
            </a:r>
          </a:p>
          <a:p>
            <a:pPr>
              <a:spcAft>
                <a:spcPts val="100"/>
              </a:spcAft>
            </a:pPr>
            <a:r>
              <a:rPr sz="1150" b="1">
                <a:solidFill>
                  <a:srgbClr val="991B1B"/>
                </a:solidFill>
              </a:rPr>
              <a:t>✗  Unstructured Gesturing:</a:t>
            </a:r>
          </a:p>
          <a:p>
            <a:pPr>
              <a:spcAft>
                <a:spcPts val="800"/>
              </a:spcAft>
            </a:pPr>
            <a:r>
              <a:rPr sz="1050">
                <a:solidFill>
                  <a:srgbClr val="334155"/>
                </a:solidFill>
              </a:rPr>
              <a:t>Misunderstandings happen immediately. Patient points; doctor guesses.</a:t>
            </a:r>
          </a:p>
          <a:p>
            <a:pPr>
              <a:spcAft>
                <a:spcPts val="100"/>
              </a:spcAft>
            </a:pPr>
            <a:r>
              <a:rPr sz="1150" b="1">
                <a:solidFill>
                  <a:srgbClr val="991B1B"/>
                </a:solidFill>
              </a:rPr>
              <a:t>✗  Doctor Cannot Ask Questions:</a:t>
            </a:r>
          </a:p>
          <a:p>
            <a:pPr>
              <a:spcAft>
                <a:spcPts val="800"/>
              </a:spcAft>
            </a:pPr>
            <a:r>
              <a:rPr sz="1050">
                <a:solidFill>
                  <a:srgbClr val="334155"/>
                </a:solidFill>
              </a:rPr>
              <a:t>No two-way interaction. Doctor cannot check pain location or duration.</a:t>
            </a:r>
          </a:p>
          <a:p>
            <a:pPr>
              <a:spcAft>
                <a:spcPts val="100"/>
              </a:spcAft>
            </a:pPr>
            <a:r>
              <a:rPr sz="1150" b="1">
                <a:solidFill>
                  <a:srgbClr val="991B1B"/>
                </a:solidFill>
              </a:rPr>
              <a:t>✗  Diagnostic &amp; Triage Delay:</a:t>
            </a:r>
          </a:p>
          <a:p>
            <a:pPr>
              <a:spcAft>
                <a:spcPts val="800"/>
              </a:spcAft>
            </a:pPr>
            <a:r>
              <a:rPr sz="1050">
                <a:solidFill>
                  <a:srgbClr val="334155"/>
                </a:solidFill>
              </a:rPr>
              <a:t>Waiting for an interpreter takes hours or days. Critical windows are lost.</a:t>
            </a:r>
          </a:p>
          <a:p>
            <a:pPr>
              <a:spcAft>
                <a:spcPts val="100"/>
              </a:spcAft>
            </a:pPr>
            <a:r>
              <a:rPr sz="1150" b="1">
                <a:solidFill>
                  <a:srgbClr val="991B1B"/>
                </a:solidFill>
              </a:rPr>
              <a:t>✗  High Rate of Treatment Abandonment:</a:t>
            </a:r>
          </a:p>
          <a:p>
            <a:pPr>
              <a:spcAft>
                <a:spcPts val="800"/>
              </a:spcAft>
            </a:pPr>
            <a:r>
              <a:rPr sz="1050">
                <a:solidFill>
                  <a:srgbClr val="334155"/>
                </a:solidFill>
              </a:rPr>
              <a:t>Deaf patients frequently leave ER without receiving care due to frustration.</a:t>
            </a:r>
          </a:p>
        </p:txBody>
      </p:sp>
      <p:sp>
        <p:nvSpPr>
          <p:cNvPr id="10" name="Rounded Rectangle 9"/>
          <p:cNvSpPr/>
          <p:nvPr/>
        </p:nvSpPr>
        <p:spPr>
          <a:xfrm>
            <a:off x="6291072" y="1554480"/>
            <a:ext cx="5166360" cy="393192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737360"/>
            <a:ext cx="4572000" cy="3474720"/>
          </a:xfrm>
          <a:prstGeom prst="rect">
            <a:avLst/>
          </a:prstGeom>
          <a:noFill/>
        </p:spPr>
        <p:txBody>
          <a:bodyPr wrap="square">
            <a:spAutoFit/>
          </a:bodyPr>
          <a:lstStyle/>
          <a:p>
            <a:pPr>
              <a:spcAft>
                <a:spcPts val="1200"/>
              </a:spcAft>
            </a:pPr>
            <a:r>
              <a:rPr sz="1300" b="1">
                <a:solidFill>
                  <a:srgbClr val="015427"/>
                </a:solidFill>
              </a:rPr>
              <a:t>WITH ISHARA AI  (IMMEDIATE TRIAGE)</a:t>
            </a:r>
          </a:p>
          <a:p>
            <a:pPr>
              <a:spcAft>
                <a:spcPts val="100"/>
              </a:spcAft>
            </a:pPr>
            <a:r>
              <a:rPr sz="1150" b="1">
                <a:solidFill>
                  <a:srgbClr val="015427"/>
                </a:solidFill>
              </a:rPr>
              <a:t>✓  First Minute Triage:</a:t>
            </a:r>
          </a:p>
          <a:p>
            <a:pPr>
              <a:spcAft>
                <a:spcPts val="800"/>
              </a:spcAft>
            </a:pPr>
            <a:r>
              <a:rPr sz="1050">
                <a:solidFill>
                  <a:srgbClr val="334155"/>
                </a:solidFill>
              </a:rPr>
              <a:t>Patient signs -&gt; reviewed Urdu output displayed and spoken in under 60 seconds.</a:t>
            </a:r>
          </a:p>
          <a:p>
            <a:pPr>
              <a:spcAft>
                <a:spcPts val="100"/>
              </a:spcAft>
            </a:pPr>
            <a:r>
              <a:rPr sz="1150" b="1">
                <a:solidFill>
                  <a:srgbClr val="015427"/>
                </a:solidFill>
              </a:rPr>
              <a:t>✓  Two-Way Doctor Responses:</a:t>
            </a:r>
          </a:p>
          <a:p>
            <a:pPr>
              <a:spcAft>
                <a:spcPts val="800"/>
              </a:spcAft>
            </a:pPr>
            <a:r>
              <a:rPr sz="1050">
                <a:solidFill>
                  <a:srgbClr val="334155"/>
                </a:solidFill>
              </a:rPr>
              <a:t>Doctor uses curated PSL response library to send structured video queries.</a:t>
            </a:r>
          </a:p>
          <a:p>
            <a:pPr>
              <a:spcAft>
                <a:spcPts val="100"/>
              </a:spcAft>
            </a:pPr>
            <a:r>
              <a:rPr sz="1150" b="1">
                <a:solidFill>
                  <a:srgbClr val="015427"/>
                </a:solidFill>
              </a:rPr>
              <a:t>✓  Zero Guessing Safety Gate:</a:t>
            </a:r>
          </a:p>
          <a:p>
            <a:pPr>
              <a:spcAft>
                <a:spcPts val="800"/>
              </a:spcAft>
            </a:pPr>
            <a:r>
              <a:rPr sz="1050">
                <a:solidFill>
                  <a:srgbClr val="334155"/>
                </a:solidFill>
              </a:rPr>
              <a:t>DTW distance gate refuses classification when unsure: 'Pata nahi, dobara karein'.</a:t>
            </a:r>
          </a:p>
          <a:p>
            <a:pPr>
              <a:spcAft>
                <a:spcPts val="100"/>
              </a:spcAft>
            </a:pPr>
            <a:r>
              <a:rPr sz="1150" b="1">
                <a:solidFill>
                  <a:srgbClr val="015427"/>
                </a:solidFill>
              </a:rPr>
              <a:t>✓  100% Offline &amp; Private:</a:t>
            </a:r>
          </a:p>
          <a:p>
            <a:pPr>
              <a:spcAft>
                <a:spcPts val="800"/>
              </a:spcAft>
            </a:pPr>
            <a:r>
              <a:rPr sz="1050">
                <a:solidFill>
                  <a:srgbClr val="334155"/>
                </a:solidFill>
              </a:rPr>
              <a:t>Runs entirely on a standard hospital laptop. No patient data stored or uploaded.</a:t>
            </a:r>
          </a:p>
        </p:txBody>
      </p:sp>
      <p:sp>
        <p:nvSpPr>
          <p:cNvPr id="12" name="Rounded Rectangle 11"/>
          <p:cNvSpPr/>
          <p:nvPr/>
        </p:nvSpPr>
        <p:spPr>
          <a:xfrm>
            <a:off x="731520" y="5623560"/>
            <a:ext cx="10725912" cy="548640"/>
          </a:xfrm>
          <a:prstGeom prst="roundRect">
            <a:avLst/>
          </a:prstGeom>
          <a:solidFill>
            <a:srgbClr val="017A3A"/>
          </a:solidFill>
          <a:ln w="12700">
            <a:solidFill>
              <a:srgbClr val="017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669280"/>
            <a:ext cx="10360152" cy="457200"/>
          </a:xfrm>
          <a:prstGeom prst="rect">
            <a:avLst/>
          </a:prstGeom>
          <a:noFill/>
        </p:spPr>
        <p:txBody>
          <a:bodyPr wrap="none">
            <a:spAutoFit/>
          </a:bodyPr>
          <a:lstStyle/>
          <a:p>
            <a:pPr algn="ctr"/>
            <a:r>
              <a:rPr sz="1300" b="1">
                <a:solidFill>
                  <a:srgbClr val="FFFFFF"/>
                </a:solidFill>
                <a:latin typeface="Segoe UI"/>
              </a:rPr>
              <a:t>"One sentence—‘میری آنکھ میں درد ہے’—delivered in the first 60 seconds changes a clinical triage outcome."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502920" cy="292608"/>
          </a:xfrm>
          <a:prstGeom prst="roundRect">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FFFFFF"/>
                </a:solidFill>
              </a:rPr>
              <a:t>04</a:t>
            </a:r>
          </a:p>
        </p:txBody>
      </p:sp>
      <p:sp>
        <p:nvSpPr>
          <p:cNvPr id="4" name="TextBox 3"/>
          <p:cNvSpPr txBox="1"/>
          <p:nvPr/>
        </p:nvSpPr>
        <p:spPr>
          <a:xfrm>
            <a:off x="1325880" y="384048"/>
            <a:ext cx="5486400" cy="292608"/>
          </a:xfrm>
          <a:prstGeom prst="rect">
            <a:avLst/>
          </a:prstGeom>
          <a:noFill/>
        </p:spPr>
        <p:txBody>
          <a:bodyPr wrap="none">
            <a:spAutoFit/>
          </a:bodyPr>
          <a:lstStyle/>
          <a:p>
            <a:r>
              <a:rPr sz="1200" b="1">
                <a:solidFill>
                  <a:srgbClr val="017A3A"/>
                </a:solidFill>
                <a:latin typeface="Segoe UI"/>
              </a:rPr>
              <a:t>INNOVATION &amp; TECHNOLOGY</a:t>
            </a:r>
          </a:p>
        </p:txBody>
      </p:sp>
      <p:sp>
        <p:nvSpPr>
          <p:cNvPr id="5" name="TextBox 4"/>
          <p:cNvSpPr txBox="1"/>
          <p:nvPr/>
        </p:nvSpPr>
        <p:spPr>
          <a:xfrm>
            <a:off x="731520" y="749808"/>
            <a:ext cx="10698480" cy="594360"/>
          </a:xfrm>
          <a:prstGeom prst="rect">
            <a:avLst/>
          </a:prstGeom>
          <a:noFill/>
        </p:spPr>
        <p:txBody>
          <a:bodyPr wrap="square">
            <a:spAutoFit/>
          </a:bodyPr>
          <a:lstStyle/>
          <a:p>
            <a:r>
              <a:rPr sz="2500" b="1">
                <a:solidFill>
                  <a:srgbClr val="0F172A"/>
                </a:solidFill>
                <a:latin typeface="Segoe UI"/>
              </a:rPr>
              <a:t>The system that refuses to lie: clinical safety by design</a:t>
            </a:r>
          </a:p>
        </p:txBody>
      </p:sp>
      <p:sp>
        <p:nvSpPr>
          <p:cNvPr id="6" name="Rectangle 5"/>
          <p:cNvSpPr/>
          <p:nvPr/>
        </p:nvSpPr>
        <p:spPr>
          <a:xfrm>
            <a:off x="0" y="6473952"/>
            <a:ext cx="12191695" cy="384048"/>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10728655" cy="274320"/>
          </a:xfrm>
          <a:prstGeom prst="rect">
            <a:avLst/>
          </a:prstGeom>
          <a:noFill/>
        </p:spPr>
        <p:txBody>
          <a:bodyPr wrap="none">
            <a:spAutoFit/>
          </a:bodyPr>
          <a:lstStyle/>
          <a:p>
            <a:pPr algn="ctr"/>
            <a:r>
              <a:rPr sz="950">
                <a:solidFill>
                  <a:srgbClr val="64748B"/>
                </a:solidFill>
              </a:rPr>
              <a:t>Ishara AI   •   Alibaba Cloud AI Hackathon Pakistan 2026   •   Confidential</a:t>
            </a:r>
          </a:p>
        </p:txBody>
      </p:sp>
      <p:sp>
        <p:nvSpPr>
          <p:cNvPr id="8" name="Rounded Rectangle 7"/>
          <p:cNvSpPr/>
          <p:nvPr/>
        </p:nvSpPr>
        <p:spPr>
          <a:xfrm>
            <a:off x="731520" y="1554480"/>
            <a:ext cx="169164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627632"/>
            <a:ext cx="1554480" cy="1371600"/>
          </a:xfrm>
          <a:prstGeom prst="rect">
            <a:avLst/>
          </a:prstGeom>
          <a:noFill/>
        </p:spPr>
        <p:txBody>
          <a:bodyPr wrap="square">
            <a:spAutoFit/>
          </a:bodyPr>
          <a:lstStyle/>
          <a:p>
            <a:pPr algn="ctr">
              <a:spcAft>
                <a:spcPts val="200"/>
              </a:spcAft>
            </a:pPr>
            <a:r>
              <a:rPr sz="1150" b="1">
                <a:solidFill>
                  <a:srgbClr val="015427"/>
                </a:solidFill>
              </a:rPr>
              <a:t>📹 Camera</a:t>
            </a:r>
          </a:p>
          <a:p>
            <a:pPr algn="ctr">
              <a:spcAft>
                <a:spcPts val="300"/>
              </a:spcAft>
            </a:pPr>
            <a:r>
              <a:rPr sz="1050" b="1">
                <a:solidFill>
                  <a:srgbClr val="0F172A"/>
                </a:solidFill>
              </a:rPr>
              <a:t>Webcam Feed</a:t>
            </a:r>
          </a:p>
          <a:p>
            <a:pPr algn="ctr"/>
            <a:r>
              <a:rPr sz="950">
                <a:solidFill>
                  <a:srgbClr val="64748B"/>
                </a:solidFill>
              </a:rPr>
              <a:t>30 FPS real-time capture via browser</a:t>
            </a:r>
          </a:p>
        </p:txBody>
      </p:sp>
      <p:sp>
        <p:nvSpPr>
          <p:cNvPr id="10" name="TextBox 9"/>
          <p:cNvSpPr txBox="1"/>
          <p:nvPr/>
        </p:nvSpPr>
        <p:spPr>
          <a:xfrm>
            <a:off x="2340864" y="2057400"/>
            <a:ext cx="274320" cy="274320"/>
          </a:xfrm>
          <a:prstGeom prst="rect">
            <a:avLst/>
          </a:prstGeom>
          <a:noFill/>
        </p:spPr>
        <p:txBody>
          <a:bodyPr wrap="none">
            <a:spAutoFit/>
          </a:bodyPr>
          <a:lstStyle/>
          <a:p>
            <a:pPr algn="ctr"/>
            <a:r>
              <a:rPr sz="2000" b="1">
                <a:solidFill>
                  <a:srgbClr val="017A3A"/>
                </a:solidFill>
              </a:rPr>
              <a:t>›</a:t>
            </a:r>
          </a:p>
        </p:txBody>
      </p:sp>
      <p:sp>
        <p:nvSpPr>
          <p:cNvPr id="11" name="Rounded Rectangle 10"/>
          <p:cNvSpPr/>
          <p:nvPr/>
        </p:nvSpPr>
        <p:spPr>
          <a:xfrm>
            <a:off x="2542032" y="1554480"/>
            <a:ext cx="169164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15184" y="1627632"/>
            <a:ext cx="1554480" cy="1371600"/>
          </a:xfrm>
          <a:prstGeom prst="rect">
            <a:avLst/>
          </a:prstGeom>
          <a:noFill/>
        </p:spPr>
        <p:txBody>
          <a:bodyPr wrap="square">
            <a:spAutoFit/>
          </a:bodyPr>
          <a:lstStyle/>
          <a:p>
            <a:pPr algn="ctr">
              <a:spcAft>
                <a:spcPts val="200"/>
              </a:spcAft>
            </a:pPr>
            <a:r>
              <a:rPr sz="1150" b="1">
                <a:solidFill>
                  <a:srgbClr val="015427"/>
                </a:solidFill>
              </a:rPr>
              <a:t>🦴 MediaPipe</a:t>
            </a:r>
          </a:p>
          <a:p>
            <a:pPr algn="ctr">
              <a:spcAft>
                <a:spcPts val="300"/>
              </a:spcAft>
            </a:pPr>
            <a:r>
              <a:rPr sz="1050" b="1">
                <a:solidFill>
                  <a:srgbClr val="0F172A"/>
                </a:solidFill>
              </a:rPr>
              <a:t>Pose &amp; Hands</a:t>
            </a:r>
          </a:p>
          <a:p>
            <a:pPr algn="ctr"/>
            <a:r>
              <a:rPr sz="950">
                <a:solidFill>
                  <a:srgbClr val="64748B"/>
                </a:solidFill>
              </a:rPr>
              <a:t>33 body + 42 hand 3D landmarks</a:t>
            </a:r>
          </a:p>
        </p:txBody>
      </p:sp>
      <p:sp>
        <p:nvSpPr>
          <p:cNvPr id="13" name="TextBox 12"/>
          <p:cNvSpPr txBox="1"/>
          <p:nvPr/>
        </p:nvSpPr>
        <p:spPr>
          <a:xfrm>
            <a:off x="4151376" y="2057400"/>
            <a:ext cx="274320" cy="274320"/>
          </a:xfrm>
          <a:prstGeom prst="rect">
            <a:avLst/>
          </a:prstGeom>
          <a:noFill/>
        </p:spPr>
        <p:txBody>
          <a:bodyPr wrap="none">
            <a:spAutoFit/>
          </a:bodyPr>
          <a:lstStyle/>
          <a:p>
            <a:pPr algn="ctr"/>
            <a:r>
              <a:rPr sz="2000" b="1">
                <a:solidFill>
                  <a:srgbClr val="017A3A"/>
                </a:solidFill>
              </a:rPr>
              <a:t>›</a:t>
            </a:r>
          </a:p>
        </p:txBody>
      </p:sp>
      <p:sp>
        <p:nvSpPr>
          <p:cNvPr id="14" name="Rounded Rectangle 13"/>
          <p:cNvSpPr/>
          <p:nvPr/>
        </p:nvSpPr>
        <p:spPr>
          <a:xfrm>
            <a:off x="4352544" y="1554480"/>
            <a:ext cx="169164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25696" y="1627632"/>
            <a:ext cx="1554480" cy="1371600"/>
          </a:xfrm>
          <a:prstGeom prst="rect">
            <a:avLst/>
          </a:prstGeom>
          <a:noFill/>
        </p:spPr>
        <p:txBody>
          <a:bodyPr wrap="square">
            <a:spAutoFit/>
          </a:bodyPr>
          <a:lstStyle/>
          <a:p>
            <a:pPr algn="ctr">
              <a:spcAft>
                <a:spcPts val="200"/>
              </a:spcAft>
            </a:pPr>
            <a:r>
              <a:rPr sz="1150" b="1">
                <a:solidFill>
                  <a:srgbClr val="015427"/>
                </a:solidFill>
              </a:rPr>
              <a:t>📐 DTW Matcher</a:t>
            </a:r>
          </a:p>
          <a:p>
            <a:pPr algn="ctr">
              <a:spcAft>
                <a:spcPts val="300"/>
              </a:spcAft>
            </a:pPr>
            <a:r>
              <a:rPr sz="1050" b="1">
                <a:solidFill>
                  <a:srgbClr val="0F172A"/>
                </a:solidFill>
              </a:rPr>
              <a:t>Time Warping</a:t>
            </a:r>
          </a:p>
          <a:p>
            <a:pPr algn="ctr"/>
            <a:r>
              <a:rPr sz="950">
                <a:solidFill>
                  <a:srgbClr val="64748B"/>
                </a:solidFill>
              </a:rPr>
              <a:t>Matches motion shape regardless of speed</a:t>
            </a:r>
          </a:p>
        </p:txBody>
      </p:sp>
      <p:sp>
        <p:nvSpPr>
          <p:cNvPr id="16" name="TextBox 15"/>
          <p:cNvSpPr txBox="1"/>
          <p:nvPr/>
        </p:nvSpPr>
        <p:spPr>
          <a:xfrm>
            <a:off x="5961888" y="2057400"/>
            <a:ext cx="274320" cy="274320"/>
          </a:xfrm>
          <a:prstGeom prst="rect">
            <a:avLst/>
          </a:prstGeom>
          <a:noFill/>
        </p:spPr>
        <p:txBody>
          <a:bodyPr wrap="none">
            <a:spAutoFit/>
          </a:bodyPr>
          <a:lstStyle/>
          <a:p>
            <a:pPr algn="ctr"/>
            <a:r>
              <a:rPr sz="2000" b="1">
                <a:solidFill>
                  <a:srgbClr val="017A3A"/>
                </a:solidFill>
              </a:rPr>
              <a:t>›</a:t>
            </a:r>
          </a:p>
        </p:txBody>
      </p:sp>
      <p:sp>
        <p:nvSpPr>
          <p:cNvPr id="17" name="Rounded Rectangle 16"/>
          <p:cNvSpPr/>
          <p:nvPr/>
        </p:nvSpPr>
        <p:spPr>
          <a:xfrm>
            <a:off x="6163055" y="1554480"/>
            <a:ext cx="169164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36207" y="1627632"/>
            <a:ext cx="1554480" cy="1371600"/>
          </a:xfrm>
          <a:prstGeom prst="rect">
            <a:avLst/>
          </a:prstGeom>
          <a:noFill/>
        </p:spPr>
        <p:txBody>
          <a:bodyPr wrap="square">
            <a:spAutoFit/>
          </a:bodyPr>
          <a:lstStyle/>
          <a:p>
            <a:pPr algn="ctr">
              <a:spcAft>
                <a:spcPts val="200"/>
              </a:spcAft>
            </a:pPr>
            <a:r>
              <a:rPr sz="1150" b="1">
                <a:solidFill>
                  <a:srgbClr val="015427"/>
                </a:solidFill>
              </a:rPr>
              <a:t>🛡️ Safety Gate</a:t>
            </a:r>
          </a:p>
          <a:p>
            <a:pPr algn="ctr">
              <a:spcAft>
                <a:spcPts val="300"/>
              </a:spcAft>
            </a:pPr>
            <a:r>
              <a:rPr sz="1050" b="1">
                <a:solidFill>
                  <a:srgbClr val="0F172A"/>
                </a:solidFill>
              </a:rPr>
              <a:t>Unknown Reject</a:t>
            </a:r>
          </a:p>
          <a:p>
            <a:pPr algn="ctr"/>
            <a:r>
              <a:rPr sz="950">
                <a:solidFill>
                  <a:srgbClr val="64748B"/>
                </a:solidFill>
              </a:rPr>
              <a:t>Rejects match if distance &gt; tau threshold</a:t>
            </a:r>
          </a:p>
        </p:txBody>
      </p:sp>
      <p:sp>
        <p:nvSpPr>
          <p:cNvPr id="19" name="TextBox 18"/>
          <p:cNvSpPr txBox="1"/>
          <p:nvPr/>
        </p:nvSpPr>
        <p:spPr>
          <a:xfrm>
            <a:off x="7772399" y="2057400"/>
            <a:ext cx="274320" cy="274320"/>
          </a:xfrm>
          <a:prstGeom prst="rect">
            <a:avLst/>
          </a:prstGeom>
          <a:noFill/>
        </p:spPr>
        <p:txBody>
          <a:bodyPr wrap="none">
            <a:spAutoFit/>
          </a:bodyPr>
          <a:lstStyle/>
          <a:p>
            <a:pPr algn="ctr"/>
            <a:r>
              <a:rPr sz="2000" b="1">
                <a:solidFill>
                  <a:srgbClr val="017A3A"/>
                </a:solidFill>
              </a:rPr>
              <a:t>›</a:t>
            </a:r>
          </a:p>
        </p:txBody>
      </p:sp>
      <p:sp>
        <p:nvSpPr>
          <p:cNvPr id="20" name="Rounded Rectangle 19"/>
          <p:cNvSpPr/>
          <p:nvPr/>
        </p:nvSpPr>
        <p:spPr>
          <a:xfrm>
            <a:off x="7973568" y="1554480"/>
            <a:ext cx="169164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0" y="1627632"/>
            <a:ext cx="1554480" cy="1371600"/>
          </a:xfrm>
          <a:prstGeom prst="rect">
            <a:avLst/>
          </a:prstGeom>
          <a:noFill/>
        </p:spPr>
        <p:txBody>
          <a:bodyPr wrap="square">
            <a:spAutoFit/>
          </a:bodyPr>
          <a:lstStyle/>
          <a:p>
            <a:pPr algn="ctr">
              <a:spcAft>
                <a:spcPts val="200"/>
              </a:spcAft>
            </a:pPr>
            <a:r>
              <a:rPr sz="1150" b="1">
                <a:solidFill>
                  <a:srgbClr val="015427"/>
                </a:solidFill>
              </a:rPr>
              <a:t>📖 Phrase Map</a:t>
            </a:r>
          </a:p>
          <a:p>
            <a:pPr algn="ctr">
              <a:spcAft>
                <a:spcPts val="300"/>
              </a:spcAft>
            </a:pPr>
            <a:r>
              <a:rPr sz="1050" b="1">
                <a:solidFill>
                  <a:srgbClr val="0F172A"/>
                </a:solidFill>
              </a:rPr>
              <a:t>Curated Urdu</a:t>
            </a:r>
          </a:p>
          <a:p>
            <a:pPr algn="ctr"/>
            <a:r>
              <a:rPr sz="950">
                <a:solidFill>
                  <a:srgbClr val="64748B"/>
                </a:solidFill>
              </a:rPr>
              <a:t>Look-up table: zero generative AI risk</a:t>
            </a:r>
          </a:p>
        </p:txBody>
      </p:sp>
      <p:sp>
        <p:nvSpPr>
          <p:cNvPr id="22" name="TextBox 21"/>
          <p:cNvSpPr txBox="1"/>
          <p:nvPr/>
        </p:nvSpPr>
        <p:spPr>
          <a:xfrm>
            <a:off x="9582912" y="2057400"/>
            <a:ext cx="274320" cy="274320"/>
          </a:xfrm>
          <a:prstGeom prst="rect">
            <a:avLst/>
          </a:prstGeom>
          <a:noFill/>
        </p:spPr>
        <p:txBody>
          <a:bodyPr wrap="none">
            <a:spAutoFit/>
          </a:bodyPr>
          <a:lstStyle/>
          <a:p>
            <a:pPr algn="ctr"/>
            <a:r>
              <a:rPr sz="2000" b="1">
                <a:solidFill>
                  <a:srgbClr val="017A3A"/>
                </a:solidFill>
              </a:rPr>
              <a:t>›</a:t>
            </a:r>
          </a:p>
        </p:txBody>
      </p:sp>
      <p:sp>
        <p:nvSpPr>
          <p:cNvPr id="23" name="Rounded Rectangle 22"/>
          <p:cNvSpPr/>
          <p:nvPr/>
        </p:nvSpPr>
        <p:spPr>
          <a:xfrm>
            <a:off x="9784080" y="1554480"/>
            <a:ext cx="169164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57232" y="1627632"/>
            <a:ext cx="1554480" cy="1371600"/>
          </a:xfrm>
          <a:prstGeom prst="rect">
            <a:avLst/>
          </a:prstGeom>
          <a:noFill/>
        </p:spPr>
        <p:txBody>
          <a:bodyPr wrap="square">
            <a:spAutoFit/>
          </a:bodyPr>
          <a:lstStyle/>
          <a:p>
            <a:pPr algn="ctr">
              <a:spcAft>
                <a:spcPts val="200"/>
              </a:spcAft>
            </a:pPr>
            <a:r>
              <a:rPr sz="1150" b="1">
                <a:solidFill>
                  <a:srgbClr val="015427"/>
                </a:solidFill>
              </a:rPr>
              <a:t>🔊 Kokoro TTS</a:t>
            </a:r>
          </a:p>
          <a:p>
            <a:pPr algn="ctr">
              <a:spcAft>
                <a:spcPts val="300"/>
              </a:spcAft>
            </a:pPr>
            <a:r>
              <a:rPr sz="1050" b="1">
                <a:solidFill>
                  <a:srgbClr val="0F172A"/>
                </a:solidFill>
              </a:rPr>
              <a:t>Audio Voice</a:t>
            </a:r>
          </a:p>
          <a:p>
            <a:pPr algn="ctr"/>
            <a:r>
              <a:rPr sz="950">
                <a:solidFill>
                  <a:srgbClr val="64748B"/>
                </a:solidFill>
              </a:rPr>
              <a:t>High-clarity local speech to medical staff</a:t>
            </a:r>
          </a:p>
        </p:txBody>
      </p:sp>
      <p:sp>
        <p:nvSpPr>
          <p:cNvPr id="25" name="Rounded Rectangle 24"/>
          <p:cNvSpPr/>
          <p:nvPr/>
        </p:nvSpPr>
        <p:spPr>
          <a:xfrm>
            <a:off x="731520" y="3291840"/>
            <a:ext cx="5285232"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401568"/>
            <a:ext cx="4919472" cy="1051560"/>
          </a:xfrm>
          <a:prstGeom prst="rect">
            <a:avLst/>
          </a:prstGeom>
          <a:noFill/>
        </p:spPr>
        <p:txBody>
          <a:bodyPr wrap="square">
            <a:spAutoFit/>
          </a:bodyPr>
          <a:lstStyle/>
          <a:p>
            <a:pPr>
              <a:spcAft>
                <a:spcPts val="300"/>
              </a:spcAft>
            </a:pPr>
            <a:r>
              <a:rPr sz="1200" b="1">
                <a:solidFill>
                  <a:srgbClr val="015427"/>
                </a:solidFill>
              </a:rPr>
              <a:t>🛡️ Zero Hallucination Guarantee</a:t>
            </a:r>
          </a:p>
          <a:p>
            <a:r>
              <a:rPr sz="1050">
                <a:solidFill>
                  <a:srgbClr val="334155"/>
                </a:solidFill>
              </a:rPr>
              <a:t>No Large Language Model generates medical responses. Signs map deterministically to clinically reviewed Urdu phrases. In healthcare, an invented sentence can be fatal. Our architecture makes hallucination mathematically impossible.</a:t>
            </a:r>
          </a:p>
        </p:txBody>
      </p:sp>
      <p:sp>
        <p:nvSpPr>
          <p:cNvPr id="27" name="Rounded Rectangle 26"/>
          <p:cNvSpPr/>
          <p:nvPr/>
        </p:nvSpPr>
        <p:spPr>
          <a:xfrm>
            <a:off x="6172200" y="3291840"/>
            <a:ext cx="5285232"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55080" y="3401568"/>
            <a:ext cx="4919472" cy="1051560"/>
          </a:xfrm>
          <a:prstGeom prst="rect">
            <a:avLst/>
          </a:prstGeom>
          <a:noFill/>
        </p:spPr>
        <p:txBody>
          <a:bodyPr wrap="square">
            <a:spAutoFit/>
          </a:bodyPr>
          <a:lstStyle/>
          <a:p>
            <a:pPr>
              <a:spcAft>
                <a:spcPts val="300"/>
              </a:spcAft>
            </a:pPr>
            <a:r>
              <a:rPr sz="1200" b="1">
                <a:solidFill>
                  <a:srgbClr val="015427"/>
                </a:solidFill>
              </a:rPr>
              <a:t>✋ Honest Unknown Gate ('Pata Nahi')</a:t>
            </a:r>
          </a:p>
          <a:p>
            <a:r>
              <a:rPr sz="1050">
                <a:solidFill>
                  <a:srgbClr val="334155"/>
                </a:solidFill>
              </a:rPr>
              <a:t>Standard neural classifiers force a prediction (softmax sum = 1). DTW measures absolute Euclidean distance. If the closest sign is too far (tau &gt; 0.25), the system responds 'Pata nahi, dobara karein' rather than guessing.</a:t>
            </a:r>
          </a:p>
        </p:txBody>
      </p:sp>
      <p:sp>
        <p:nvSpPr>
          <p:cNvPr id="29" name="Rounded Rectangle 28"/>
          <p:cNvSpPr/>
          <p:nvPr/>
        </p:nvSpPr>
        <p:spPr>
          <a:xfrm>
            <a:off x="731520" y="4617720"/>
            <a:ext cx="5285232"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727448"/>
            <a:ext cx="4919472" cy="1051560"/>
          </a:xfrm>
          <a:prstGeom prst="rect">
            <a:avLst/>
          </a:prstGeom>
          <a:noFill/>
        </p:spPr>
        <p:txBody>
          <a:bodyPr wrap="square">
            <a:spAutoFit/>
          </a:bodyPr>
          <a:lstStyle/>
          <a:p>
            <a:pPr>
              <a:spcAft>
                <a:spcPts val="300"/>
              </a:spcAft>
            </a:pPr>
            <a:r>
              <a:rPr sz="1200" b="1">
                <a:solidFill>
                  <a:srgbClr val="015427"/>
                </a:solidFill>
              </a:rPr>
              <a:t>⚡ 100% Local &amp; Edge Feasible</a:t>
            </a:r>
          </a:p>
          <a:p>
            <a:r>
              <a:rPr sz="1050">
                <a:solidFill>
                  <a:srgbClr val="334155"/>
                </a:solidFill>
              </a:rPr>
              <a:t>The entire pipeline—MediaPipe Holistic, DTW matcher, and Kokoro TTS—runs locally on a standard CPU. No internet connection is needed in the hospital. The entire live demo functions with Wi-Fi disabled.</a:t>
            </a:r>
          </a:p>
        </p:txBody>
      </p:sp>
      <p:sp>
        <p:nvSpPr>
          <p:cNvPr id="31" name="Rounded Rectangle 30"/>
          <p:cNvSpPr/>
          <p:nvPr/>
        </p:nvSpPr>
        <p:spPr>
          <a:xfrm>
            <a:off x="6172200" y="4617720"/>
            <a:ext cx="5285232" cy="1234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80" y="4727448"/>
            <a:ext cx="4919472" cy="1051560"/>
          </a:xfrm>
          <a:prstGeom prst="rect">
            <a:avLst/>
          </a:prstGeom>
          <a:noFill/>
        </p:spPr>
        <p:txBody>
          <a:bodyPr wrap="square">
            <a:spAutoFit/>
          </a:bodyPr>
          <a:lstStyle/>
          <a:p>
            <a:pPr>
              <a:spcAft>
                <a:spcPts val="300"/>
              </a:spcAft>
            </a:pPr>
            <a:r>
              <a:rPr sz="1200" b="1">
                <a:solidFill>
                  <a:srgbClr val="015427"/>
                </a:solidFill>
              </a:rPr>
              <a:t>Built for PSL, Not Generic ASL</a:t>
            </a:r>
          </a:p>
          <a:p>
            <a:r>
              <a:rPr sz="1050">
                <a:solidFill>
                  <a:srgbClr val="334155"/>
                </a:solidFill>
              </a:rPr>
              <a:t>Pakistan Sign Language is grammatically and lexically independent from ASL or BSL. Web models trained on ASL fail in Pakistan. We calibrated against verified PSL references, accounting for distinct Pakistani handshapes and orientations.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502920" cy="292608"/>
          </a:xfrm>
          <a:prstGeom prst="roundRect">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FFFFFF"/>
                </a:solidFill>
              </a:rPr>
              <a:t>05</a:t>
            </a:r>
          </a:p>
        </p:txBody>
      </p:sp>
      <p:sp>
        <p:nvSpPr>
          <p:cNvPr id="4" name="TextBox 3"/>
          <p:cNvSpPr txBox="1"/>
          <p:nvPr/>
        </p:nvSpPr>
        <p:spPr>
          <a:xfrm>
            <a:off x="1325880" y="384048"/>
            <a:ext cx="5486400" cy="292608"/>
          </a:xfrm>
          <a:prstGeom prst="rect">
            <a:avLst/>
          </a:prstGeom>
          <a:noFill/>
        </p:spPr>
        <p:txBody>
          <a:bodyPr wrap="none">
            <a:spAutoFit/>
          </a:bodyPr>
          <a:lstStyle/>
          <a:p>
            <a:r>
              <a:rPr sz="1200" b="1">
                <a:solidFill>
                  <a:srgbClr val="017A3A"/>
                </a:solidFill>
                <a:latin typeface="Segoe UI"/>
              </a:rPr>
              <a:t>FEASIBILITY &amp; WHAT WE BUILT</a:t>
            </a:r>
          </a:p>
        </p:txBody>
      </p:sp>
      <p:sp>
        <p:nvSpPr>
          <p:cNvPr id="5" name="TextBox 4"/>
          <p:cNvSpPr txBox="1"/>
          <p:nvPr/>
        </p:nvSpPr>
        <p:spPr>
          <a:xfrm>
            <a:off x="731520" y="749808"/>
            <a:ext cx="10698480" cy="594360"/>
          </a:xfrm>
          <a:prstGeom prst="rect">
            <a:avLst/>
          </a:prstGeom>
          <a:noFill/>
        </p:spPr>
        <p:txBody>
          <a:bodyPr wrap="square">
            <a:spAutoFit/>
          </a:bodyPr>
          <a:lstStyle/>
          <a:p>
            <a:r>
              <a:rPr sz="2500" b="1">
                <a:solidFill>
                  <a:srgbClr val="0F172A"/>
                </a:solidFill>
                <a:latin typeface="Segoe UI"/>
              </a:rPr>
              <a:t>Working software with measured metrics, not a conceptual mockup</a:t>
            </a:r>
          </a:p>
        </p:txBody>
      </p:sp>
      <p:sp>
        <p:nvSpPr>
          <p:cNvPr id="6" name="Rectangle 5"/>
          <p:cNvSpPr/>
          <p:nvPr/>
        </p:nvSpPr>
        <p:spPr>
          <a:xfrm>
            <a:off x="0" y="6473952"/>
            <a:ext cx="12191695" cy="384048"/>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528816"/>
            <a:ext cx="10728655" cy="274320"/>
          </a:xfrm>
          <a:prstGeom prst="rect">
            <a:avLst/>
          </a:prstGeom>
          <a:noFill/>
        </p:spPr>
        <p:txBody>
          <a:bodyPr wrap="none">
            <a:spAutoFit/>
          </a:bodyPr>
          <a:lstStyle/>
          <a:p>
            <a:pPr algn="ctr"/>
            <a:r>
              <a:rPr sz="950">
                <a:solidFill>
                  <a:srgbClr val="64748B"/>
                </a:solidFill>
              </a:rPr>
              <a:t>Ishara AI   •   Alibaba Cloud AI Hackathon Pakistan 2026   •   Confidential</a:t>
            </a:r>
          </a:p>
        </p:txBody>
      </p:sp>
      <p:sp>
        <p:nvSpPr>
          <p:cNvPr id="8" name="Rounded Rectangle 7"/>
          <p:cNvSpPr/>
          <p:nvPr/>
        </p:nvSpPr>
        <p:spPr>
          <a:xfrm>
            <a:off x="731520" y="1554480"/>
            <a:ext cx="5212080" cy="292608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691640"/>
            <a:ext cx="4663440" cy="2651760"/>
          </a:xfrm>
          <a:prstGeom prst="rect">
            <a:avLst/>
          </a:prstGeom>
          <a:noFill/>
        </p:spPr>
        <p:txBody>
          <a:bodyPr wrap="square">
            <a:spAutoFit/>
          </a:bodyPr>
          <a:lstStyle/>
          <a:p>
            <a:pPr>
              <a:spcAft>
                <a:spcPts val="800"/>
              </a:spcAft>
            </a:pPr>
            <a:r>
              <a:rPr sz="1250" b="1">
                <a:solidFill>
                  <a:srgbClr val="015427"/>
                </a:solidFill>
              </a:rPr>
              <a:t>VERIFIED METRICS (WITH DENOMINATORS)</a:t>
            </a:r>
          </a:p>
          <a:p>
            <a:pPr>
              <a:spcAft>
                <a:spcPts val="400"/>
              </a:spcAft>
            </a:pPr>
            <a:r>
              <a:rPr sz="1050" b="1">
                <a:solidFill>
                  <a:srgbClr val="0F172A"/>
                </a:solidFill>
              </a:rPr>
              <a:t>Leave-One-Out Validation: </a:t>
            </a:r>
            <a:r>
              <a:rPr sz="1000">
                <a:solidFill>
                  <a:srgbClr val="334155"/>
                </a:solidFill>
              </a:rPr>
              <a:t>24 / 24 correct (100% on 4 core signs across 24 reference clips)</a:t>
            </a:r>
          </a:p>
          <a:p>
            <a:pPr>
              <a:spcAft>
                <a:spcPts val="400"/>
              </a:spcAft>
            </a:pPr>
            <a:r>
              <a:rPr sz="1050" b="1">
                <a:solidFill>
                  <a:srgbClr val="0F172A"/>
                </a:solidFill>
              </a:rPr>
              <a:t>Live Interactive Session: </a:t>
            </a:r>
            <a:r>
              <a:rPr sz="1000">
                <a:solidFill>
                  <a:srgbClr val="334155"/>
                </a:solidFill>
              </a:rPr>
              <a:t>14 correct, 0 incorrect, 3 unknown (100% clean safety gate)</a:t>
            </a:r>
          </a:p>
          <a:p>
            <a:pPr>
              <a:spcAft>
                <a:spcPts val="400"/>
              </a:spcAft>
            </a:pPr>
            <a:r>
              <a:rPr sz="1050" b="1">
                <a:solidFill>
                  <a:srgbClr val="0F172A"/>
                </a:solidFill>
              </a:rPr>
              <a:t>Margin of Separation: </a:t>
            </a:r>
            <a:r>
              <a:rPr sz="1000">
                <a:solidFill>
                  <a:srgbClr val="334155"/>
                </a:solidFill>
              </a:rPr>
              <a:t>Same-sign worst: 0.161 vs Cross-sign best: 0.191 (clear decision gap)</a:t>
            </a:r>
          </a:p>
          <a:p>
            <a:pPr>
              <a:spcAft>
                <a:spcPts val="400"/>
              </a:spcAft>
            </a:pPr>
            <a:r>
              <a:rPr sz="1050" b="1">
                <a:solidFill>
                  <a:srgbClr val="0F172A"/>
                </a:solidFill>
              </a:rPr>
              <a:t>False Positive Rate: </a:t>
            </a:r>
            <a:r>
              <a:rPr sz="1000">
                <a:solidFill>
                  <a:srgbClr val="334155"/>
                </a:solidFill>
              </a:rPr>
              <a:t>&lt; 2% target maintained by design; rejects rather than misclassifies</a:t>
            </a:r>
          </a:p>
          <a:p>
            <a:pPr>
              <a:spcAft>
                <a:spcPts val="400"/>
              </a:spcAft>
            </a:pPr>
            <a:r>
              <a:rPr sz="1050" b="1">
                <a:solidFill>
                  <a:srgbClr val="0F172A"/>
                </a:solidFill>
              </a:rPr>
              <a:t>Honest Test Context: </a:t>
            </a:r>
            <a:r>
              <a:rPr sz="1000">
                <a:solidFill>
                  <a:srgbClr val="334155"/>
                </a:solidFill>
              </a:rPr>
              <a:t>Measured on single deliberate signer (P01); ready for multi-signer Phase 2</a:t>
            </a:r>
          </a:p>
        </p:txBody>
      </p:sp>
      <p:sp>
        <p:nvSpPr>
          <p:cNvPr id="10" name="Rounded Rectangle 9"/>
          <p:cNvSpPr/>
          <p:nvPr/>
        </p:nvSpPr>
        <p:spPr>
          <a:xfrm>
            <a:off x="6245352" y="1554480"/>
            <a:ext cx="521208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691640"/>
            <a:ext cx="4754880" cy="2651760"/>
          </a:xfrm>
          <a:prstGeom prst="rect">
            <a:avLst/>
          </a:prstGeom>
          <a:noFill/>
        </p:spPr>
        <p:txBody>
          <a:bodyPr wrap="square">
            <a:spAutoFit/>
          </a:bodyPr>
          <a:lstStyle/>
          <a:p>
            <a:pPr>
              <a:spcAft>
                <a:spcPts val="800"/>
              </a:spcAft>
            </a:pPr>
            <a:r>
              <a:rPr sz="1250" b="1">
                <a:solidFill>
                  <a:srgbClr val="0F172A"/>
                </a:solidFill>
              </a:rPr>
              <a:t>FULL-STACK PRODUCTION SYSTEM RUNNING</a:t>
            </a:r>
          </a:p>
          <a:p>
            <a:pPr>
              <a:spcAft>
                <a:spcPts val="400"/>
              </a:spcAft>
            </a:pPr>
            <a:r>
              <a:rPr sz="1000">
                <a:solidFill>
                  <a:srgbClr val="334155"/>
                </a:solidFill>
              </a:rPr>
              <a:t>✓ Full-Stack Web App: Next.js 14 frontend + FastAPI Python backend + PostgreSQL</a:t>
            </a:r>
          </a:p>
          <a:p>
            <a:pPr>
              <a:spcAft>
                <a:spcPts val="400"/>
              </a:spcAft>
            </a:pPr>
            <a:r>
              <a:rPr sz="1000">
                <a:solidFill>
                  <a:srgbClr val="334155"/>
                </a:solidFill>
              </a:rPr>
              <a:t>✓ Real-time webcam processing: 30 FPS landmark extraction in client browser</a:t>
            </a:r>
          </a:p>
          <a:p>
            <a:pPr>
              <a:spcAft>
                <a:spcPts val="400"/>
              </a:spcAft>
            </a:pPr>
            <a:r>
              <a:rPr sz="1000">
                <a:solidFill>
                  <a:srgbClr val="334155"/>
                </a:solidFill>
              </a:rPr>
              <a:t>✓ Dynamic Time Warping engine: Subsequence matching against calibrated references</a:t>
            </a:r>
          </a:p>
          <a:p>
            <a:pPr>
              <a:spcAft>
                <a:spcPts val="400"/>
              </a:spcAft>
            </a:pPr>
            <a:r>
              <a:rPr sz="1000">
                <a:solidFill>
                  <a:srgbClr val="334155"/>
                </a:solidFill>
              </a:rPr>
              <a:t>✓ Doctor Mode with PSL Video Library: Spoken/button questions trigger verified PSL video</a:t>
            </a:r>
          </a:p>
          <a:p>
            <a:pPr>
              <a:spcAft>
                <a:spcPts val="400"/>
              </a:spcAft>
            </a:pPr>
            <a:r>
              <a:rPr sz="1000">
                <a:solidFill>
                  <a:srgbClr val="334155"/>
                </a:solidFill>
              </a:rPr>
              <a:t>✓ High-clarity Urdu Voice: Kokoro phonetic Hindi-Urdu pipeline checked by ear</a:t>
            </a:r>
          </a:p>
          <a:p>
            <a:pPr>
              <a:spcAft>
                <a:spcPts val="400"/>
              </a:spcAft>
            </a:pPr>
            <a:r>
              <a:rPr sz="1000">
                <a:solidFill>
                  <a:srgbClr val="334155"/>
                </a:solidFill>
              </a:rPr>
              <a:t>✓ Resilient Fallback Chain: Database -&gt; JSON snapshot; Cloud speech -&gt; Local speech</a:t>
            </a:r>
          </a:p>
        </p:txBody>
      </p:sp>
      <p:sp>
        <p:nvSpPr>
          <p:cNvPr id="12" name="Rounded Rectangle 11"/>
          <p:cNvSpPr/>
          <p:nvPr/>
        </p:nvSpPr>
        <p:spPr>
          <a:xfrm>
            <a:off x="731520" y="4663440"/>
            <a:ext cx="10725912" cy="1463040"/>
          </a:xfrm>
          <a:prstGeom prst="roundRect">
            <a:avLst/>
          </a:prstGeom>
          <a:solidFill>
            <a:srgbClr val="FFFBEB"/>
          </a:solidFill>
          <a:ln w="12700">
            <a:solidFill>
              <a:srgbClr val="FEE3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754880"/>
            <a:ext cx="10149840" cy="274320"/>
          </a:xfrm>
          <a:prstGeom prst="rect">
            <a:avLst/>
          </a:prstGeom>
          <a:noFill/>
        </p:spPr>
        <p:txBody>
          <a:bodyPr wrap="none">
            <a:spAutoFit/>
          </a:bodyPr>
          <a:lstStyle/>
          <a:p>
            <a:r>
              <a:rPr sz="1150" b="1">
                <a:solidFill>
                  <a:srgbClr val="B45309"/>
                </a:solidFill>
              </a:rPr>
              <a:t>TRANSPARENT LIMITATIONS — WE STATE THESE FIRST BEFORE JUDGES ASK</a:t>
            </a:r>
          </a:p>
        </p:txBody>
      </p:sp>
      <p:sp>
        <p:nvSpPr>
          <p:cNvPr id="14" name="TextBox 13"/>
          <p:cNvSpPr txBox="1"/>
          <p:nvPr/>
        </p:nvSpPr>
        <p:spPr>
          <a:xfrm>
            <a:off x="1005840" y="5074920"/>
            <a:ext cx="3291840" cy="914400"/>
          </a:xfrm>
          <a:prstGeom prst="rect">
            <a:avLst/>
          </a:prstGeom>
          <a:noFill/>
        </p:spPr>
        <p:txBody>
          <a:bodyPr wrap="square">
            <a:spAutoFit/>
          </a:bodyPr>
          <a:lstStyle/>
          <a:p>
            <a:pPr>
              <a:spcAft>
                <a:spcPts val="200"/>
              </a:spcAft>
            </a:pPr>
            <a:r>
              <a:rPr sz="1050" b="1">
                <a:solidFill>
                  <a:srgbClr val="0F172A"/>
                </a:solidFill>
              </a:rPr>
              <a:t>▸ Fluent Continuous Signing:</a:t>
            </a:r>
          </a:p>
          <a:p>
            <a:r>
              <a:rPr sz="950">
                <a:solidFill>
                  <a:srgbClr val="64748B"/>
                </a:solidFill>
              </a:rPr>
              <a:t>Currently requires ~320ms stillness between signs. Sliding-window spotting is Phase 2 roadmap.</a:t>
            </a:r>
          </a:p>
        </p:txBody>
      </p:sp>
      <p:sp>
        <p:nvSpPr>
          <p:cNvPr id="15" name="TextBox 14"/>
          <p:cNvSpPr txBox="1"/>
          <p:nvPr/>
        </p:nvSpPr>
        <p:spPr>
          <a:xfrm>
            <a:off x="4480560" y="5074920"/>
            <a:ext cx="3291840" cy="914400"/>
          </a:xfrm>
          <a:prstGeom prst="rect">
            <a:avLst/>
          </a:prstGeom>
          <a:noFill/>
        </p:spPr>
        <p:txBody>
          <a:bodyPr wrap="square">
            <a:spAutoFit/>
          </a:bodyPr>
          <a:lstStyle/>
          <a:p>
            <a:pPr>
              <a:spcAft>
                <a:spcPts val="200"/>
              </a:spcAft>
            </a:pPr>
            <a:r>
              <a:rPr sz="1050" b="1">
                <a:solidFill>
                  <a:srgbClr val="0F172A"/>
                </a:solidFill>
              </a:rPr>
              <a:t>▸ Full Conversation Syntax:</a:t>
            </a:r>
          </a:p>
          <a:p>
            <a:r>
              <a:rPr sz="950">
                <a:solidFill>
                  <a:srgbClr val="64748B"/>
                </a:solidFill>
              </a:rPr>
              <a:t>Global open research challenge. We focus on urgent triage statements, not full linguistic translation.</a:t>
            </a:r>
          </a:p>
        </p:txBody>
      </p:sp>
      <p:sp>
        <p:nvSpPr>
          <p:cNvPr id="16" name="TextBox 15"/>
          <p:cNvSpPr txBox="1"/>
          <p:nvPr/>
        </p:nvSpPr>
        <p:spPr>
          <a:xfrm>
            <a:off x="7955279" y="5074920"/>
            <a:ext cx="3291840" cy="914400"/>
          </a:xfrm>
          <a:prstGeom prst="rect">
            <a:avLst/>
          </a:prstGeom>
          <a:noFill/>
        </p:spPr>
        <p:txBody>
          <a:bodyPr wrap="square">
            <a:spAutoFit/>
          </a:bodyPr>
          <a:lstStyle/>
          <a:p>
            <a:pPr>
              <a:spcAft>
                <a:spcPts val="200"/>
              </a:spcAft>
            </a:pPr>
            <a:r>
              <a:rPr sz="1050" b="1">
                <a:solidFill>
                  <a:srgbClr val="0F172A"/>
                </a:solidFill>
              </a:rPr>
              <a:t>▸ Not an Interpreter Replacement:</a:t>
            </a:r>
          </a:p>
          <a:p>
            <a:r>
              <a:rPr sz="950">
                <a:solidFill>
                  <a:srgbClr val="64748B"/>
                </a:solidFill>
              </a:rPr>
              <a:t>Complex clinical examinations still require certified interpreters. We unlock the first critical minutes.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17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011680" y="548640"/>
            <a:ext cx="8168335" cy="5486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shara-mark.png"/>
          <p:cNvPicPr>
            <a:picLocks noChangeAspect="1"/>
          </p:cNvPicPr>
          <p:nvPr/>
        </p:nvPicPr>
        <p:blipFill>
          <a:blip r:embed="rId2"/>
          <a:stretch>
            <a:fillRect/>
          </a:stretch>
        </p:blipFill>
        <p:spPr>
          <a:xfrm>
            <a:off x="5394960" y="868680"/>
            <a:ext cx="1283385" cy="1508760"/>
          </a:xfrm>
          <a:prstGeom prst="rect">
            <a:avLst/>
          </a:prstGeom>
        </p:spPr>
      </p:pic>
      <p:sp>
        <p:nvSpPr>
          <p:cNvPr id="5" name="TextBox 4"/>
          <p:cNvSpPr txBox="1"/>
          <p:nvPr/>
        </p:nvSpPr>
        <p:spPr>
          <a:xfrm>
            <a:off x="2377440" y="2514600"/>
            <a:ext cx="7436815" cy="502920"/>
          </a:xfrm>
          <a:prstGeom prst="rect">
            <a:avLst/>
          </a:prstGeom>
          <a:noFill/>
        </p:spPr>
        <p:txBody>
          <a:bodyPr wrap="square">
            <a:spAutoFit/>
          </a:bodyPr>
          <a:lstStyle/>
          <a:p>
            <a:pPr algn="ctr"/>
            <a:r>
              <a:rPr sz="3600" b="1">
                <a:solidFill>
                  <a:srgbClr val="0F172A"/>
                </a:solidFill>
                <a:latin typeface="Segoe UI"/>
              </a:rPr>
              <a:t>Ishara AI</a:t>
            </a:r>
          </a:p>
        </p:txBody>
      </p:sp>
      <p:sp>
        <p:nvSpPr>
          <p:cNvPr id="6" name="TextBox 5"/>
          <p:cNvSpPr txBox="1"/>
          <p:nvPr/>
        </p:nvSpPr>
        <p:spPr>
          <a:xfrm>
            <a:off x="2377440" y="3063240"/>
            <a:ext cx="7436815" cy="457200"/>
          </a:xfrm>
          <a:prstGeom prst="rect">
            <a:avLst/>
          </a:prstGeom>
          <a:noFill/>
        </p:spPr>
        <p:txBody>
          <a:bodyPr wrap="square">
            <a:spAutoFit/>
          </a:bodyPr>
          <a:lstStyle/>
          <a:p>
            <a:pPr algn="ctr"/>
            <a:r>
              <a:rPr sz="2000" b="1">
                <a:solidFill>
                  <a:srgbClr val="017A3A"/>
                </a:solidFill>
                <a:latin typeface="Segoe UI"/>
              </a:rPr>
              <a:t>The first minute. Not the last word.</a:t>
            </a:r>
          </a:p>
        </p:txBody>
      </p:sp>
      <p:sp>
        <p:nvSpPr>
          <p:cNvPr id="7" name="TextBox 6"/>
          <p:cNvSpPr txBox="1"/>
          <p:nvPr/>
        </p:nvSpPr>
        <p:spPr>
          <a:xfrm>
            <a:off x="2377440" y="3611880"/>
            <a:ext cx="7436815" cy="411480"/>
          </a:xfrm>
          <a:prstGeom prst="rect">
            <a:avLst/>
          </a:prstGeom>
          <a:noFill/>
        </p:spPr>
        <p:txBody>
          <a:bodyPr wrap="square">
            <a:spAutoFit/>
          </a:bodyPr>
          <a:lstStyle/>
          <a:p>
            <a:pPr algn="ctr"/>
            <a:r>
              <a:rPr sz="1350">
                <a:solidFill>
                  <a:srgbClr val="334155"/>
                </a:solidFill>
                <a:latin typeface="Segoe UI"/>
              </a:rPr>
              <a:t>Empowering Pakistani healthcare with honest, offline-first assistive AI</a:t>
            </a:r>
          </a:p>
        </p:txBody>
      </p:sp>
      <p:sp>
        <p:nvSpPr>
          <p:cNvPr id="8" name="Rounded Rectangle 7"/>
          <p:cNvSpPr/>
          <p:nvPr/>
        </p:nvSpPr>
        <p:spPr>
          <a:xfrm>
            <a:off x="2743200" y="4160520"/>
            <a:ext cx="6705295" cy="594360"/>
          </a:xfrm>
          <a:prstGeom prst="roundRect">
            <a:avLst/>
          </a:prstGeom>
          <a:solidFill>
            <a:srgbClr val="FFFFFF"/>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34640" y="4251960"/>
            <a:ext cx="6522415" cy="411480"/>
          </a:xfrm>
          <a:prstGeom prst="rect">
            <a:avLst/>
          </a:prstGeom>
          <a:noFill/>
        </p:spPr>
        <p:txBody>
          <a:bodyPr wrap="none">
            <a:spAutoFit/>
          </a:bodyPr>
          <a:lstStyle/>
          <a:p>
            <a:pPr algn="ctr"/>
            <a:r>
              <a:rPr sz="1150" b="1">
                <a:solidFill>
                  <a:srgbClr val="0F172A"/>
                </a:solidFill>
              </a:rPr>
              <a:t>GitHub: Obaid35/Ishara-AI---ALIBABA-CLOUD-AI-HACKATHON-PAKISTAN-2026</a:t>
            </a:r>
          </a:p>
        </p:txBody>
      </p:sp>
      <p:sp>
        <p:nvSpPr>
          <p:cNvPr id="10" name="TextBox 9"/>
          <p:cNvSpPr txBox="1"/>
          <p:nvPr/>
        </p:nvSpPr>
        <p:spPr>
          <a:xfrm>
            <a:off x="2377440" y="4892040"/>
            <a:ext cx="7436815" cy="457200"/>
          </a:xfrm>
          <a:prstGeom prst="rect">
            <a:avLst/>
          </a:prstGeom>
          <a:noFill/>
        </p:spPr>
        <p:txBody>
          <a:bodyPr wrap="none">
            <a:spAutoFit/>
          </a:bodyPr>
          <a:lstStyle/>
          <a:p>
            <a:pPr algn="ctr"/>
            <a:r>
              <a:rPr sz="1500" b="1">
                <a:solidFill>
                  <a:srgbClr val="015427"/>
                </a:solidFill>
              </a:rPr>
              <a:t>Thank You   •   Live System Demo Ready for Judges</a:t>
            </a:r>
          </a:p>
        </p:txBody>
      </p:sp>
      <p:sp>
        <p:nvSpPr>
          <p:cNvPr id="11" name="Rectangle 10"/>
          <p:cNvSpPr/>
          <p:nvPr/>
        </p:nvSpPr>
        <p:spPr>
          <a:xfrm>
            <a:off x="0" y="6473952"/>
            <a:ext cx="12191695" cy="384048"/>
          </a:xfrm>
          <a:prstGeom prst="rect">
            <a:avLst/>
          </a:prstGeom>
          <a:solidFill>
            <a:srgbClr val="EEF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528816"/>
            <a:ext cx="10728655" cy="274320"/>
          </a:xfrm>
          <a:prstGeom prst="rect">
            <a:avLst/>
          </a:prstGeom>
          <a:noFill/>
        </p:spPr>
        <p:txBody>
          <a:bodyPr wrap="none">
            <a:spAutoFit/>
          </a:bodyPr>
          <a:lstStyle/>
          <a:p>
            <a:pPr algn="ctr"/>
            <a:r>
              <a:rPr sz="950">
                <a:solidFill>
                  <a:srgbClr val="64748B"/>
                </a:solidFill>
              </a:rPr>
              <a:t>Ishara AI   •   Alibaba Cloud AI Hackathon Pakistan 2026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